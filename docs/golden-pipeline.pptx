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get approval for one platform-owned quality pipeline that every repo plugs into. We have a working reference implementation, tested locally, so this is not a theoretical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symptoms. The fourth is the new one: AI raises the volume of code, so controls must be automated and identical everywhere. Two CI platforms today means standards drift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design choice. Teams keep freedom over tooling: go test, pytest, Maven, Gradle, dotnet test, Jest, Vitest, anything. The pipeline never trusts a team's self-reported result. It reads standard JUnit and Cobertura/JaCoCo report files and decides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circle is the key check. Build, release and deploy only happen on main after every earlier stage passes. Squash merge means the MR title becomes the commit message, which restores work-item traceability and drives automatic versioning.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stacks. Go, Python, TypeScript, Next.js and Angular ran end to end in the test environment: lint, tests, coverage, the checks and the build. The .NET and Java samples compiled with their lint rules active, and their test logic was verified, but the environment couldn't reach NuGet or Maven Central, so their first full run happens in our network against Artifactory. Different Java or .NET versions are not a problem: the Makefile is the same, only the build image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an actual run of the reference pipeline, not a hypothetical. An overall rule is easy to game and punishes legacy teams; a new-code rule is fair and ratchets quality up. Coverage is not the same as quality, so we add a zero-test check, mutation testing on tier-1 services, and keep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 of how to skip YAML/shell repos without git tags. Git tags are reserved for release versions. Security exceptions, e.g. a checkov rule, are written inline with a reason and ticket number so they show in code review and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stance on AI: embrace it for speed, but the pass/fail decision never depends on a model's judgement. AGENTS.md puts our coding standards into every AI assistant, so generated code meets the bar before the pipeline even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GitLab pipeline execution policy needs the Ultimate tier; that is one of the decisions on the last slide. On Azure DevOps the Required template check means a pipeline that does not extend our template simply cannot deploy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mode is the change-management lever: teams see their results for two months before anything blocks. Timeline is a proposal; leadership sets the cut-over dates for phases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proposals. DORA metrics tell us whether stricter checks actually improve delivery rather than just slowing it down; we expect change failure rate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implementation is ready to pilot: github.com/abralock/golden-pipeline-example. Next step after approval: pick 3-5 pilot teams and publish the toolbox image to both registries.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2E"/>
        </a:solidFill>
      </p:bgPr>
    </p:bg>
    <p:spTree>
      <p:nvGrpSpPr>
        <p:cNvPr id="1" name=""/>
        <p:cNvGrpSpPr/>
        <p:nvPr/>
      </p:nvGrpSpPr>
      <p:grpSpPr>
        <a:xfrm>
          <a:off x="0" y="0"/>
          <a:ext cx="0" cy="0"/>
          <a:chOff x="0" y="0"/>
          <a:chExt cx="0" cy="0"/>
        </a:xfrm>
      </p:grpSpPr>
      <p:sp>
        <p:nvSpPr>
          <p:cNvPr id="2" name="Shape 0"/>
          <p:cNvSpPr/>
          <p:nvPr/>
        </p:nvSpPr>
        <p:spPr>
          <a:xfrm>
            <a:off x="457200" y="640080"/>
            <a:ext cx="822960" cy="822960"/>
          </a:xfrm>
          <a:prstGeom prst="ellipse">
            <a:avLst/>
          </a:prstGeom>
          <a:solidFill>
            <a:srgbClr val="1FA971"/>
          </a:solidFill>
          <a:ln w="12700">
            <a:solidFill>
              <a:srgbClr val="1FA971"/>
            </a:solidFill>
            <a:prstDash val="solid"/>
          </a:ln>
        </p:spPr>
      </p:sp>
      <p:pic>
        <p:nvPicPr>
          <p:cNvPr id="3" name="Image 0" descr="preencoded.png">    </p:cNvPr>
          <p:cNvPicPr>
            <a:picLocks noChangeAspect="1"/>
          </p:cNvPicPr>
          <p:nvPr/>
        </p:nvPicPr>
        <p:blipFill>
          <a:blip r:embed="rId1"/>
          <a:stretch>
            <a:fillRect/>
          </a:stretch>
        </p:blipFill>
        <p:spPr>
          <a:xfrm>
            <a:off x="662940" y="845820"/>
            <a:ext cx="411480" cy="411480"/>
          </a:xfrm>
          <a:prstGeom prst="rect">
            <a:avLst/>
          </a:prstGeom>
        </p:spPr>
      </p:pic>
      <p:sp>
        <p:nvSpPr>
          <p:cNvPr id="4" name="Text 1"/>
          <p:cNvSpPr txBox="1"/>
          <p:nvPr/>
        </p:nvSpPr>
        <p:spPr>
          <a:xfrm>
            <a:off x="457200" y="1691640"/>
            <a:ext cx="822960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Golden Pipeline</a:t>
            </a:r>
            <a:endParaRPr lang="en-US" sz="4400" dirty="0"/>
          </a:p>
        </p:txBody>
      </p:sp>
      <p:sp>
        <p:nvSpPr>
          <p:cNvPr id="5" name="Text 2"/>
          <p:cNvSpPr txBox="1"/>
          <p:nvPr/>
        </p:nvSpPr>
        <p:spPr>
          <a:xfrm>
            <a:off x="457200" y="2514600"/>
            <a:ext cx="7772400" cy="548640"/>
          </a:xfrm>
          <a:prstGeom prst="rect">
            <a:avLst/>
          </a:prstGeom>
          <a:noFill/>
          <a:ln/>
        </p:spPr>
        <p:txBody>
          <a:bodyPr wrap="square" lIns="0" tIns="0" rIns="0" bIns="0" rtlCol="0" anchor="t"/>
          <a:lstStyle/>
          <a:p>
            <a:pPr indent="0" marL="0">
              <a:buNone/>
            </a:pPr>
            <a:r>
              <a:rPr lang="en-US" sz="2000" dirty="0">
                <a:solidFill>
                  <a:srgbClr val="B8C7D0"/>
                </a:solidFill>
                <a:latin typeface="Calibri" pitchFamily="34" charset="0"/>
                <a:ea typeface="Calibri" pitchFamily="34" charset="-122"/>
                <a:cs typeface="Calibri" pitchFamily="34" charset="-120"/>
              </a:rPr>
              <a:t>One quality standard for every repo, every language, both CI platforms</a:t>
            </a:r>
            <a:endParaRPr lang="en-US" sz="2000" dirty="0"/>
          </a:p>
        </p:txBody>
      </p:sp>
      <p:sp>
        <p:nvSpPr>
          <p:cNvPr id="6" name="Text 3"/>
          <p:cNvSpPr txBox="1"/>
          <p:nvPr/>
        </p:nvSpPr>
        <p:spPr>
          <a:xfrm>
            <a:off x="457200" y="3931920"/>
            <a:ext cx="8229600" cy="640080"/>
          </a:xfrm>
          <a:prstGeom prst="rect">
            <a:avLst/>
          </a:prstGeom>
          <a:noFill/>
          <a:ln/>
        </p:spPr>
        <p:txBody>
          <a:bodyPr wrap="square" lIns="0" tIns="0" rIns="0" bIns="0" rtlCol="0" anchor="t"/>
          <a:lstStyle/>
          <a:p>
            <a:pPr indent="0" marL="0">
              <a:buNone/>
            </a:pPr>
            <a:r>
              <a:rPr lang="en-US" sz="1400" dirty="0">
                <a:solidFill>
                  <a:srgbClr val="B8C7D0"/>
                </a:solidFill>
                <a:latin typeface="Calibri" pitchFamily="34" charset="0"/>
                <a:ea typeface="Calibri" pitchFamily="34" charset="-122"/>
                <a:cs typeface="Calibri" pitchFamily="34" charset="-120"/>
              </a:rPr>
              <a:t>Go · Python · Java · .NET · TypeScript / Node.js · Next.js · Angular</a:t>
            </a:r>
            <a:endParaRPr lang="en-US" sz="1400" dirty="0"/>
          </a:p>
          <a:p>
            <a:pPr indent="0" marL="0">
              <a:buNone/>
            </a:pPr>
            <a:r>
              <a:rPr lang="en-US" sz="1400" dirty="0">
                <a:solidFill>
                  <a:srgbClr val="B8C7D0"/>
                </a:solidFill>
                <a:latin typeface="Calibri" pitchFamily="34" charset="0"/>
                <a:ea typeface="Calibri" pitchFamily="34" charset="-122"/>
                <a:cs typeface="Calibri" pitchFamily="34" charset="-120"/>
              </a:rPr>
              <a:t>GitLab + Azure DevOps  ·  Proposal for IT leadership  ·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More AI-written code, same old controls</a:t>
            </a:r>
            <a:endParaRPr lang="en-US" sz="2800" dirty="0"/>
          </a:p>
        </p:txBody>
      </p:sp>
      <p:sp>
        <p:nvSpPr>
          <p:cNvPr id="3" name="Shape 1"/>
          <p:cNvSpPr/>
          <p:nvPr/>
        </p:nvSpPr>
        <p:spPr>
          <a:xfrm>
            <a:off x="457200" y="1280160"/>
            <a:ext cx="4023360" cy="1508760"/>
          </a:xfrm>
          <a:prstGeom prst="roundRect">
            <a:avLst>
              <a:gd name="adj" fmla="val 4848"/>
            </a:avLst>
          </a:prstGeom>
          <a:solidFill>
            <a:srgbClr val="EEF3F5"/>
          </a:solidFill>
          <a:ln w="12700">
            <a:solidFill>
              <a:srgbClr val="EEF3F5"/>
            </a:solidFill>
            <a:prstDash val="solid"/>
          </a:ln>
        </p:spPr>
      </p:sp>
      <p:sp>
        <p:nvSpPr>
          <p:cNvPr id="4" name="Shape 2"/>
          <p:cNvSpPr/>
          <p:nvPr/>
        </p:nvSpPr>
        <p:spPr>
          <a:xfrm>
            <a:off x="685800" y="1554480"/>
            <a:ext cx="594360" cy="594360"/>
          </a:xfrm>
          <a:prstGeom prst="ellipse">
            <a:avLst/>
          </a:prstGeom>
          <a:solidFill>
            <a:srgbClr val="14232E"/>
          </a:solidFill>
          <a:ln w="12700">
            <a:solidFill>
              <a:srgbClr val="14232E"/>
            </a:solidFill>
            <a:prstDash val="solid"/>
          </a:ln>
        </p:spPr>
      </p:sp>
      <p:pic>
        <p:nvPicPr>
          <p:cNvPr id="5" name="Image 0" descr="preencoded.png">    </p:cNvPr>
          <p:cNvPicPr>
            <a:picLocks noChangeAspect="1"/>
          </p:cNvPicPr>
          <p:nvPr/>
        </p:nvPicPr>
        <p:blipFill>
          <a:blip r:embed="rId1"/>
          <a:stretch>
            <a:fillRect/>
          </a:stretch>
        </p:blipFill>
        <p:spPr>
          <a:xfrm>
            <a:off x="834390" y="1703070"/>
            <a:ext cx="297180" cy="297180"/>
          </a:xfrm>
          <a:prstGeom prst="rect">
            <a:avLst/>
          </a:prstGeom>
        </p:spPr>
      </p:pic>
      <p:sp>
        <p:nvSpPr>
          <p:cNvPr id="6" name="Text 3"/>
          <p:cNvSpPr txBox="1"/>
          <p:nvPr/>
        </p:nvSpPr>
        <p:spPr>
          <a:xfrm>
            <a:off x="1463040" y="1536192"/>
            <a:ext cx="2834640" cy="365760"/>
          </a:xfrm>
          <a:prstGeom prst="rect">
            <a:avLst/>
          </a:prstGeom>
          <a:noFill/>
          <a:ln/>
        </p:spPr>
        <p:txBody>
          <a:bodyPr wrap="square" lIns="0" tIns="0" rIns="0" bIns="0" rtlCol="0" anchor="t"/>
          <a:lstStyle/>
          <a:p>
            <a:pPr indent="0" marL="0">
              <a:buNone/>
            </a:pPr>
            <a:r>
              <a:rPr lang="en-US" sz="1700" b="1" dirty="0">
                <a:solidFill>
                  <a:srgbClr val="1F2D38"/>
                </a:solidFill>
                <a:latin typeface="Calibri" pitchFamily="34" charset="0"/>
                <a:ea typeface="Calibri" pitchFamily="34" charset="-122"/>
                <a:cs typeface="Calibri" pitchFamily="34" charset="-120"/>
              </a:rPr>
              <a:t>No traceability</a:t>
            </a:r>
            <a:endParaRPr lang="en-US" sz="1700" dirty="0"/>
          </a:p>
        </p:txBody>
      </p:sp>
      <p:sp>
        <p:nvSpPr>
          <p:cNvPr id="7" name="Text 4"/>
          <p:cNvSpPr txBox="1"/>
          <p:nvPr/>
        </p:nvSpPr>
        <p:spPr>
          <a:xfrm>
            <a:off x="1463040" y="1920240"/>
            <a:ext cx="2834640" cy="777240"/>
          </a:xfrm>
          <a:prstGeom prst="rect">
            <a:avLst/>
          </a:prstGeom>
          <a:noFill/>
          <a:ln/>
        </p:spPr>
        <p:txBody>
          <a:bodyPr wrap="square" lIns="0" tIns="0" rIns="0" bIns="0" rtlCol="0" anchor="t"/>
          <a:lstStyle/>
          <a:p>
            <a:pPr indent="0" marL="0">
              <a:buNone/>
            </a:pPr>
            <a:r>
              <a:rPr lang="en-US" sz="1250" dirty="0">
                <a:solidFill>
                  <a:srgbClr val="5B6B77"/>
                </a:solidFill>
                <a:latin typeface="Calibri" pitchFamily="34" charset="0"/>
                <a:ea typeface="Calibri" pitchFamily="34" charset="-122"/>
                <a:cs typeface="Calibri" pitchFamily="34" charset="-120"/>
              </a:rPr>
              <a:t>Commits without messages or work items. The TFS-era link from requirement to release is gone.</a:t>
            </a:r>
            <a:endParaRPr lang="en-US" sz="1250" dirty="0"/>
          </a:p>
        </p:txBody>
      </p:sp>
      <p:sp>
        <p:nvSpPr>
          <p:cNvPr id="8" name="Shape 5"/>
          <p:cNvSpPr/>
          <p:nvPr/>
        </p:nvSpPr>
        <p:spPr>
          <a:xfrm>
            <a:off x="4663440" y="1280160"/>
            <a:ext cx="4023360" cy="1508760"/>
          </a:xfrm>
          <a:prstGeom prst="roundRect">
            <a:avLst>
              <a:gd name="adj" fmla="val 4848"/>
            </a:avLst>
          </a:prstGeom>
          <a:solidFill>
            <a:srgbClr val="EEF3F5"/>
          </a:solidFill>
          <a:ln w="12700">
            <a:solidFill>
              <a:srgbClr val="EEF3F5"/>
            </a:solidFill>
            <a:prstDash val="solid"/>
          </a:ln>
        </p:spPr>
      </p:sp>
      <p:sp>
        <p:nvSpPr>
          <p:cNvPr id="9" name="Shape 6"/>
          <p:cNvSpPr/>
          <p:nvPr/>
        </p:nvSpPr>
        <p:spPr>
          <a:xfrm>
            <a:off x="4892040" y="1554480"/>
            <a:ext cx="594360" cy="594360"/>
          </a:xfrm>
          <a:prstGeom prst="ellipse">
            <a:avLst/>
          </a:prstGeom>
          <a:solidFill>
            <a:srgbClr val="14232E"/>
          </a:solidFill>
          <a:ln w="12700">
            <a:solidFill>
              <a:srgbClr val="14232E"/>
            </a:solidFill>
            <a:prstDash val="solid"/>
          </a:ln>
        </p:spPr>
      </p:sp>
      <p:pic>
        <p:nvPicPr>
          <p:cNvPr id="10" name="Image 1" descr="preencoded.png">    </p:cNvPr>
          <p:cNvPicPr>
            <a:picLocks noChangeAspect="1"/>
          </p:cNvPicPr>
          <p:nvPr/>
        </p:nvPicPr>
        <p:blipFill>
          <a:blip r:embed="rId2"/>
          <a:stretch>
            <a:fillRect/>
          </a:stretch>
        </p:blipFill>
        <p:spPr>
          <a:xfrm>
            <a:off x="5040630" y="1703070"/>
            <a:ext cx="297180" cy="297180"/>
          </a:xfrm>
          <a:prstGeom prst="rect">
            <a:avLst/>
          </a:prstGeom>
        </p:spPr>
      </p:pic>
      <p:sp>
        <p:nvSpPr>
          <p:cNvPr id="11" name="Text 7"/>
          <p:cNvSpPr txBox="1"/>
          <p:nvPr/>
        </p:nvSpPr>
        <p:spPr>
          <a:xfrm>
            <a:off x="5669280" y="1536192"/>
            <a:ext cx="2834640" cy="365760"/>
          </a:xfrm>
          <a:prstGeom prst="rect">
            <a:avLst/>
          </a:prstGeom>
          <a:noFill/>
          <a:ln/>
        </p:spPr>
        <p:txBody>
          <a:bodyPr wrap="square" lIns="0" tIns="0" rIns="0" bIns="0" rtlCol="0" anchor="t"/>
          <a:lstStyle/>
          <a:p>
            <a:pPr indent="0" marL="0">
              <a:buNone/>
            </a:pPr>
            <a:r>
              <a:rPr lang="en-US" sz="1700" b="1" dirty="0">
                <a:solidFill>
                  <a:srgbClr val="1F2D38"/>
                </a:solidFill>
                <a:latin typeface="Calibri" pitchFamily="34" charset="0"/>
                <a:ea typeface="Calibri" pitchFamily="34" charset="-122"/>
                <a:cs typeface="Calibri" pitchFamily="34" charset="-120"/>
              </a:rPr>
              <a:t>Every repo is different</a:t>
            </a:r>
            <a:endParaRPr lang="en-US" sz="1700" dirty="0"/>
          </a:p>
        </p:txBody>
      </p:sp>
      <p:sp>
        <p:nvSpPr>
          <p:cNvPr id="12" name="Text 8"/>
          <p:cNvSpPr txBox="1"/>
          <p:nvPr/>
        </p:nvSpPr>
        <p:spPr>
          <a:xfrm>
            <a:off x="5669280" y="1920240"/>
            <a:ext cx="2834640" cy="777240"/>
          </a:xfrm>
          <a:prstGeom prst="rect">
            <a:avLst/>
          </a:prstGeom>
          <a:noFill/>
          <a:ln/>
        </p:spPr>
        <p:txBody>
          <a:bodyPr wrap="square" lIns="0" tIns="0" rIns="0" bIns="0" rtlCol="0" anchor="t"/>
          <a:lstStyle/>
          <a:p>
            <a:pPr indent="0" marL="0">
              <a:buNone/>
            </a:pPr>
            <a:r>
              <a:rPr lang="en-US" sz="1250" dirty="0">
                <a:solidFill>
                  <a:srgbClr val="5B6B77"/>
                </a:solidFill>
                <a:latin typeface="Calibri" pitchFamily="34" charset="0"/>
                <a:ea typeface="Calibri" pitchFamily="34" charset="-122"/>
                <a:cs typeface="Calibri" pitchFamily="34" charset="-120"/>
              </a:rPr>
              <a:t>Each team builds and tests its own way, so quality can't be compared or enforced.</a:t>
            </a:r>
            <a:endParaRPr lang="en-US" sz="1250" dirty="0"/>
          </a:p>
        </p:txBody>
      </p:sp>
      <p:sp>
        <p:nvSpPr>
          <p:cNvPr id="13" name="Shape 9"/>
          <p:cNvSpPr/>
          <p:nvPr/>
        </p:nvSpPr>
        <p:spPr>
          <a:xfrm>
            <a:off x="457200" y="3017520"/>
            <a:ext cx="4023360" cy="1508760"/>
          </a:xfrm>
          <a:prstGeom prst="roundRect">
            <a:avLst>
              <a:gd name="adj" fmla="val 4848"/>
            </a:avLst>
          </a:prstGeom>
          <a:solidFill>
            <a:srgbClr val="EEF3F5"/>
          </a:solidFill>
          <a:ln w="12700">
            <a:solidFill>
              <a:srgbClr val="EEF3F5"/>
            </a:solidFill>
            <a:prstDash val="solid"/>
          </a:ln>
        </p:spPr>
      </p:sp>
      <p:sp>
        <p:nvSpPr>
          <p:cNvPr id="14" name="Shape 10"/>
          <p:cNvSpPr/>
          <p:nvPr/>
        </p:nvSpPr>
        <p:spPr>
          <a:xfrm>
            <a:off x="685800" y="3291840"/>
            <a:ext cx="594360" cy="594360"/>
          </a:xfrm>
          <a:prstGeom prst="ellipse">
            <a:avLst/>
          </a:prstGeom>
          <a:solidFill>
            <a:srgbClr val="14232E"/>
          </a:solidFill>
          <a:ln w="12700">
            <a:solidFill>
              <a:srgbClr val="14232E"/>
            </a:solidFill>
            <a:prstDash val="solid"/>
          </a:ln>
        </p:spPr>
      </p:sp>
      <p:pic>
        <p:nvPicPr>
          <p:cNvPr id="15" name="Image 2" descr="preencoded.png">    </p:cNvPr>
          <p:cNvPicPr>
            <a:picLocks noChangeAspect="1"/>
          </p:cNvPicPr>
          <p:nvPr/>
        </p:nvPicPr>
        <p:blipFill>
          <a:blip r:embed="rId3"/>
          <a:stretch>
            <a:fillRect/>
          </a:stretch>
        </p:blipFill>
        <p:spPr>
          <a:xfrm>
            <a:off x="834390" y="3440430"/>
            <a:ext cx="297180" cy="297180"/>
          </a:xfrm>
          <a:prstGeom prst="rect">
            <a:avLst/>
          </a:prstGeom>
        </p:spPr>
      </p:pic>
      <p:sp>
        <p:nvSpPr>
          <p:cNvPr id="16" name="Text 11"/>
          <p:cNvSpPr txBox="1"/>
          <p:nvPr/>
        </p:nvSpPr>
        <p:spPr>
          <a:xfrm>
            <a:off x="1463040" y="3273552"/>
            <a:ext cx="2834640" cy="365760"/>
          </a:xfrm>
          <a:prstGeom prst="rect">
            <a:avLst/>
          </a:prstGeom>
          <a:noFill/>
          <a:ln/>
        </p:spPr>
        <p:txBody>
          <a:bodyPr wrap="square" lIns="0" tIns="0" rIns="0" bIns="0" rtlCol="0" anchor="t"/>
          <a:lstStyle/>
          <a:p>
            <a:pPr indent="0" marL="0">
              <a:buNone/>
            </a:pPr>
            <a:r>
              <a:rPr lang="en-US" sz="1700" b="1" dirty="0">
                <a:solidFill>
                  <a:srgbClr val="1F2D38"/>
                </a:solidFill>
                <a:latin typeface="Calibri" pitchFamily="34" charset="0"/>
                <a:ea typeface="Calibri" pitchFamily="34" charset="-122"/>
                <a:cs typeface="Calibri" pitchFamily="34" charset="-120"/>
              </a:rPr>
              <a:t>Untested code ships</a:t>
            </a:r>
            <a:endParaRPr lang="en-US" sz="1700" dirty="0"/>
          </a:p>
        </p:txBody>
      </p:sp>
      <p:sp>
        <p:nvSpPr>
          <p:cNvPr id="17" name="Text 12"/>
          <p:cNvSpPr txBox="1"/>
          <p:nvPr/>
        </p:nvSpPr>
        <p:spPr>
          <a:xfrm>
            <a:off x="1463040" y="3657600"/>
            <a:ext cx="2834640" cy="777240"/>
          </a:xfrm>
          <a:prstGeom prst="rect">
            <a:avLst/>
          </a:prstGeom>
          <a:noFill/>
          <a:ln/>
        </p:spPr>
        <p:txBody>
          <a:bodyPr wrap="square" lIns="0" tIns="0" rIns="0" bIns="0" rtlCol="0" anchor="t"/>
          <a:lstStyle/>
          <a:p>
            <a:pPr indent="0" marL="0">
              <a:buNone/>
            </a:pPr>
            <a:r>
              <a:rPr lang="en-US" sz="1250" dirty="0">
                <a:solidFill>
                  <a:srgbClr val="5B6B77"/>
                </a:solidFill>
                <a:latin typeface="Calibri" pitchFamily="34" charset="0"/>
                <a:ea typeface="Calibri" pitchFamily="34" charset="-122"/>
                <a:cs typeface="Calibri" pitchFamily="34" charset="-120"/>
              </a:rPr>
              <a:t>No consistent coverage check. AI can also generate tests that assert nothing.</a:t>
            </a:r>
            <a:endParaRPr lang="en-US" sz="1250" dirty="0"/>
          </a:p>
        </p:txBody>
      </p:sp>
      <p:sp>
        <p:nvSpPr>
          <p:cNvPr id="18" name="Shape 13"/>
          <p:cNvSpPr/>
          <p:nvPr/>
        </p:nvSpPr>
        <p:spPr>
          <a:xfrm>
            <a:off x="4663440" y="3017520"/>
            <a:ext cx="4023360" cy="1508760"/>
          </a:xfrm>
          <a:prstGeom prst="roundRect">
            <a:avLst>
              <a:gd name="adj" fmla="val 4848"/>
            </a:avLst>
          </a:prstGeom>
          <a:solidFill>
            <a:srgbClr val="EEF3F5"/>
          </a:solidFill>
          <a:ln w="12700">
            <a:solidFill>
              <a:srgbClr val="EEF3F5"/>
            </a:solidFill>
            <a:prstDash val="solid"/>
          </a:ln>
        </p:spPr>
      </p:sp>
      <p:sp>
        <p:nvSpPr>
          <p:cNvPr id="19" name="Shape 14"/>
          <p:cNvSpPr/>
          <p:nvPr/>
        </p:nvSpPr>
        <p:spPr>
          <a:xfrm>
            <a:off x="4892040" y="3291840"/>
            <a:ext cx="594360" cy="594360"/>
          </a:xfrm>
          <a:prstGeom prst="ellipse">
            <a:avLst/>
          </a:prstGeom>
          <a:solidFill>
            <a:srgbClr val="14232E"/>
          </a:solidFill>
          <a:ln w="12700">
            <a:solidFill>
              <a:srgbClr val="14232E"/>
            </a:solidFill>
            <a:prstDash val="solid"/>
          </a:ln>
        </p:spPr>
      </p:sp>
      <p:pic>
        <p:nvPicPr>
          <p:cNvPr id="20" name="Image 3" descr="preencoded.png">    </p:cNvPr>
          <p:cNvPicPr>
            <a:picLocks noChangeAspect="1"/>
          </p:cNvPicPr>
          <p:nvPr/>
        </p:nvPicPr>
        <p:blipFill>
          <a:blip r:embed="rId4"/>
          <a:stretch>
            <a:fillRect/>
          </a:stretch>
        </p:blipFill>
        <p:spPr>
          <a:xfrm>
            <a:off x="5040630" y="3440430"/>
            <a:ext cx="297180" cy="297180"/>
          </a:xfrm>
          <a:prstGeom prst="rect">
            <a:avLst/>
          </a:prstGeom>
        </p:spPr>
      </p:pic>
      <p:sp>
        <p:nvSpPr>
          <p:cNvPr id="21" name="Text 15"/>
          <p:cNvSpPr txBox="1"/>
          <p:nvPr/>
        </p:nvSpPr>
        <p:spPr>
          <a:xfrm>
            <a:off x="5669280" y="3273552"/>
            <a:ext cx="2834640" cy="365760"/>
          </a:xfrm>
          <a:prstGeom prst="rect">
            <a:avLst/>
          </a:prstGeom>
          <a:noFill/>
          <a:ln/>
        </p:spPr>
        <p:txBody>
          <a:bodyPr wrap="square" lIns="0" tIns="0" rIns="0" bIns="0" rtlCol="0" anchor="t"/>
          <a:lstStyle/>
          <a:p>
            <a:pPr indent="0" marL="0">
              <a:buNone/>
            </a:pPr>
            <a:r>
              <a:rPr lang="en-US" sz="1700" b="1" dirty="0">
                <a:solidFill>
                  <a:srgbClr val="1F2D38"/>
                </a:solidFill>
                <a:latin typeface="Calibri" pitchFamily="34" charset="0"/>
                <a:ea typeface="Calibri" pitchFamily="34" charset="-122"/>
                <a:cs typeface="Calibri" pitchFamily="34" charset="-120"/>
              </a:rPr>
              <a:t>Volume outpaces review</a:t>
            </a:r>
            <a:endParaRPr lang="en-US" sz="1700" dirty="0"/>
          </a:p>
        </p:txBody>
      </p:sp>
      <p:sp>
        <p:nvSpPr>
          <p:cNvPr id="22" name="Text 16"/>
          <p:cNvSpPr txBox="1"/>
          <p:nvPr/>
        </p:nvSpPr>
        <p:spPr>
          <a:xfrm>
            <a:off x="5669280" y="3657600"/>
            <a:ext cx="2834640" cy="777240"/>
          </a:xfrm>
          <a:prstGeom prst="rect">
            <a:avLst/>
          </a:prstGeom>
          <a:noFill/>
          <a:ln/>
        </p:spPr>
        <p:txBody>
          <a:bodyPr wrap="square" lIns="0" tIns="0" rIns="0" bIns="0" rtlCol="0" anchor="t"/>
          <a:lstStyle/>
          <a:p>
            <a:pPr indent="0" marL="0">
              <a:buNone/>
            </a:pPr>
            <a:r>
              <a:rPr lang="en-US" sz="1250" dirty="0">
                <a:solidFill>
                  <a:srgbClr val="5B6B77"/>
                </a:solidFill>
                <a:latin typeface="Calibri" pitchFamily="34" charset="0"/>
                <a:ea typeface="Calibri" pitchFamily="34" charset="-122"/>
                <a:cs typeface="Calibri" pitchFamily="34" charset="-120"/>
              </a:rPr>
              <a:t>AI multiplies output. Human review alone can't keep up across ~4,000 engineers.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Teams own the how; platform owns the rules</a:t>
            </a:r>
            <a:endParaRPr lang="en-US" sz="2800" dirty="0"/>
          </a:p>
        </p:txBody>
      </p:sp>
      <p:sp>
        <p:nvSpPr>
          <p:cNvPr id="3" name="Shape 1"/>
          <p:cNvSpPr/>
          <p:nvPr/>
        </p:nvSpPr>
        <p:spPr>
          <a:xfrm>
            <a:off x="457200" y="1280160"/>
            <a:ext cx="3566160" cy="2834640"/>
          </a:xfrm>
          <a:prstGeom prst="roundRect">
            <a:avLst>
              <a:gd name="adj" fmla="val 2581"/>
            </a:avLst>
          </a:prstGeom>
          <a:solidFill>
            <a:srgbClr val="EEF3F5"/>
          </a:solidFill>
          <a:ln w="12700">
            <a:solidFill>
              <a:srgbClr val="EEF3F5"/>
            </a:solidFill>
            <a:prstDash val="solid"/>
          </a:ln>
        </p:spPr>
      </p:sp>
      <p:sp>
        <p:nvSpPr>
          <p:cNvPr id="4" name="Shape 2"/>
          <p:cNvSpPr/>
          <p:nvPr/>
        </p:nvSpPr>
        <p:spPr>
          <a:xfrm>
            <a:off x="685800" y="1481328"/>
            <a:ext cx="548640" cy="548640"/>
          </a:xfrm>
          <a:prstGeom prst="ellipse">
            <a:avLst/>
          </a:prstGeom>
          <a:solidFill>
            <a:srgbClr val="14232E"/>
          </a:solidFill>
          <a:ln w="12700">
            <a:solidFill>
              <a:srgbClr val="14232E"/>
            </a:solidFill>
            <a:prstDash val="solid"/>
          </a:ln>
        </p:spPr>
      </p:sp>
      <p:pic>
        <p:nvPicPr>
          <p:cNvPr id="5" name="Image 0" descr="preencoded.png">    </p:cNvPr>
          <p:cNvPicPr>
            <a:picLocks noChangeAspect="1"/>
          </p:cNvPicPr>
          <p:nvPr/>
        </p:nvPicPr>
        <p:blipFill>
          <a:blip r:embed="rId1"/>
          <a:stretch>
            <a:fillRect/>
          </a:stretch>
        </p:blipFill>
        <p:spPr>
          <a:xfrm>
            <a:off x="822960" y="1618488"/>
            <a:ext cx="274320" cy="274320"/>
          </a:xfrm>
          <a:prstGeom prst="rect">
            <a:avLst/>
          </a:prstGeom>
        </p:spPr>
      </p:pic>
      <p:sp>
        <p:nvSpPr>
          <p:cNvPr id="6" name="Text 3"/>
          <p:cNvSpPr txBox="1"/>
          <p:nvPr/>
        </p:nvSpPr>
        <p:spPr>
          <a:xfrm>
            <a:off x="1371600" y="1572768"/>
            <a:ext cx="2560320" cy="365760"/>
          </a:xfrm>
          <a:prstGeom prst="rect">
            <a:avLst/>
          </a:prstGeom>
          <a:noFill/>
          <a:ln/>
        </p:spPr>
        <p:txBody>
          <a:bodyPr wrap="square" lIns="0" tIns="0" rIns="0" bIns="0" rtlCol="0" anchor="t"/>
          <a:lstStyle/>
          <a:p>
            <a:pPr indent="0" marL="0">
              <a:buNone/>
            </a:pPr>
            <a:r>
              <a:rPr lang="en-US" sz="1600" b="1" dirty="0">
                <a:solidFill>
                  <a:srgbClr val="1F2D38"/>
                </a:solidFill>
                <a:latin typeface="Calibri" pitchFamily="34" charset="0"/>
                <a:ea typeface="Calibri" pitchFamily="34" charset="-122"/>
                <a:cs typeface="Calibri" pitchFamily="34" charset="-120"/>
              </a:rPr>
              <a:t>Each team (any language)</a:t>
            </a:r>
            <a:endParaRPr lang="en-US" sz="1600" dirty="0"/>
          </a:p>
        </p:txBody>
      </p:sp>
      <p:sp>
        <p:nvSpPr>
          <p:cNvPr id="7" name="Text 4"/>
          <p:cNvSpPr txBox="1"/>
          <p:nvPr/>
        </p:nvSpPr>
        <p:spPr>
          <a:xfrm>
            <a:off x="731520" y="2240280"/>
            <a:ext cx="31089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38"/>
                </a:solidFill>
                <a:latin typeface="Calibri" pitchFamily="34" charset="0"/>
                <a:ea typeface="Calibri" pitchFamily="34" charset="-122"/>
                <a:cs typeface="Calibri" pitchFamily="34" charset="-120"/>
              </a:rPr>
              <a:t>Makefile with 5 fixed targets</a:t>
            </a:r>
            <a:endParaRPr lang="en-US" sz="1400" dirty="0"/>
          </a:p>
          <a:p>
            <a:pPr marL="342900" indent="-342900">
              <a:spcAft>
                <a:spcPts val="600"/>
              </a:spcAft>
              <a:buSzPct val="100000"/>
              <a:buChar char="•"/>
            </a:pPr>
            <a:r>
              <a:rPr lang="en-US" sz="1400" dirty="0">
                <a:solidFill>
                  <a:srgbClr val="1F2D38"/>
                </a:solidFill>
                <a:latin typeface="Calibri" pitchFamily="34" charset="0"/>
                <a:ea typeface="Calibri" pitchFamily="34" charset="-122"/>
                <a:cs typeface="Calibri" pitchFamily="34" charset="-120"/>
              </a:rPr>
              <a:t>repo.yaml: type, owner, tier</a:t>
            </a:r>
            <a:endParaRPr lang="en-US" sz="1400" dirty="0"/>
          </a:p>
          <a:p>
            <a:pPr marL="342900" indent="-342900">
              <a:spcAft>
                <a:spcPts val="600"/>
              </a:spcAft>
              <a:buSzPct val="100000"/>
              <a:buChar char="•"/>
            </a:pPr>
            <a:r>
              <a:rPr lang="en-US" sz="1400" dirty="0">
                <a:solidFill>
                  <a:srgbClr val="1F2D38"/>
                </a:solidFill>
                <a:latin typeface="Calibri" pitchFamily="34" charset="0"/>
                <a:ea typeface="Calibri" pitchFamily="34" charset="-122"/>
                <a:cs typeface="Calibri" pitchFamily="34" charset="-120"/>
              </a:rPr>
              <a:t>1-line pipeline include</a:t>
            </a:r>
            <a:endParaRPr lang="en-US" sz="1400" dirty="0"/>
          </a:p>
          <a:p>
            <a:pPr marL="342900" indent="-342900">
              <a:spcAft>
                <a:spcPts val="600"/>
              </a:spcAft>
              <a:buSzPct val="100000"/>
              <a:buChar char="•"/>
            </a:pPr>
            <a:r>
              <a:rPr lang="en-US" sz="1400" dirty="0">
                <a:solidFill>
                  <a:srgbClr val="1F2D38"/>
                </a:solidFill>
                <a:latin typeface="Calibri" pitchFamily="34" charset="0"/>
                <a:ea typeface="Calibri" pitchFamily="34" charset="-122"/>
                <a:cs typeface="Calibri" pitchFamily="34" charset="-120"/>
              </a:rPr>
              <a:t>AGENTS.md: rules for AI tools</a:t>
            </a:r>
            <a:endParaRPr lang="en-US" sz="1400" dirty="0"/>
          </a:p>
        </p:txBody>
      </p:sp>
      <p:sp>
        <p:nvSpPr>
          <p:cNvPr id="8" name="Shape 5"/>
          <p:cNvSpPr/>
          <p:nvPr/>
        </p:nvSpPr>
        <p:spPr>
          <a:xfrm>
            <a:off x="4160520" y="2377440"/>
            <a:ext cx="822960" cy="548640"/>
          </a:xfrm>
          <a:prstGeom prst="rightArrow">
            <a:avLst/>
          </a:prstGeom>
          <a:solidFill>
            <a:srgbClr val="1FA971"/>
          </a:solidFill>
          <a:ln w="12700">
            <a:solidFill>
              <a:srgbClr val="1FA971"/>
            </a:solidFill>
            <a:prstDash val="solid"/>
          </a:ln>
        </p:spPr>
      </p:sp>
      <p:sp>
        <p:nvSpPr>
          <p:cNvPr id="9" name="Text 6"/>
          <p:cNvSpPr txBox="1"/>
          <p:nvPr/>
        </p:nvSpPr>
        <p:spPr>
          <a:xfrm>
            <a:off x="4023360" y="3017520"/>
            <a:ext cx="1097280" cy="54864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calls make,</a:t>
            </a:r>
            <a:endParaRPr lang="en-US" sz="1100" dirty="0"/>
          </a:p>
          <a:p>
            <a:pPr algn="ctr" indent="0" marL="0">
              <a:buNone/>
            </a:pPr>
            <a:r>
              <a:rPr lang="en-US" sz="1100" dirty="0">
                <a:solidFill>
                  <a:srgbClr val="5B6B77"/>
                </a:solidFill>
                <a:latin typeface="Calibri" pitchFamily="34" charset="0"/>
                <a:ea typeface="Calibri" pitchFamily="34" charset="-122"/>
                <a:cs typeface="Calibri" pitchFamily="34" charset="-120"/>
              </a:rPr>
              <a:t>reads reports</a:t>
            </a:r>
            <a:endParaRPr lang="en-US" sz="1100" dirty="0"/>
          </a:p>
        </p:txBody>
      </p:sp>
      <p:sp>
        <p:nvSpPr>
          <p:cNvPr id="10" name="Shape 7"/>
          <p:cNvSpPr/>
          <p:nvPr/>
        </p:nvSpPr>
        <p:spPr>
          <a:xfrm>
            <a:off x="5120640" y="1280160"/>
            <a:ext cx="3566160" cy="2834640"/>
          </a:xfrm>
          <a:prstGeom prst="roundRect">
            <a:avLst>
              <a:gd name="adj" fmla="val 2581"/>
            </a:avLst>
          </a:prstGeom>
          <a:solidFill>
            <a:srgbClr val="14232E"/>
          </a:solidFill>
          <a:ln w="12700">
            <a:solidFill>
              <a:srgbClr val="14232E"/>
            </a:solidFill>
            <a:prstDash val="solid"/>
          </a:ln>
        </p:spPr>
      </p:sp>
      <p:sp>
        <p:nvSpPr>
          <p:cNvPr id="11" name="Shape 8"/>
          <p:cNvSpPr/>
          <p:nvPr/>
        </p:nvSpPr>
        <p:spPr>
          <a:xfrm>
            <a:off x="5349240" y="1481328"/>
            <a:ext cx="548640" cy="548640"/>
          </a:xfrm>
          <a:prstGeom prst="ellipse">
            <a:avLst/>
          </a:prstGeom>
          <a:solidFill>
            <a:srgbClr val="1FA971"/>
          </a:solidFill>
          <a:ln w="12700">
            <a:solidFill>
              <a:srgbClr val="1FA971"/>
            </a:solidFill>
            <a:prstDash val="solid"/>
          </a:ln>
        </p:spPr>
      </p:sp>
      <p:pic>
        <p:nvPicPr>
          <p:cNvPr id="12" name="Image 1" descr="preencoded.png">    </p:cNvPr>
          <p:cNvPicPr>
            <a:picLocks noChangeAspect="1"/>
          </p:cNvPicPr>
          <p:nvPr/>
        </p:nvPicPr>
        <p:blipFill>
          <a:blip r:embed="rId2"/>
          <a:stretch>
            <a:fillRect/>
          </a:stretch>
        </p:blipFill>
        <p:spPr>
          <a:xfrm>
            <a:off x="5486400" y="1618488"/>
            <a:ext cx="274320" cy="274320"/>
          </a:xfrm>
          <a:prstGeom prst="rect">
            <a:avLst/>
          </a:prstGeom>
        </p:spPr>
      </p:pic>
      <p:sp>
        <p:nvSpPr>
          <p:cNvPr id="13" name="Text 9"/>
          <p:cNvSpPr txBox="1"/>
          <p:nvPr/>
        </p:nvSpPr>
        <p:spPr>
          <a:xfrm>
            <a:off x="6035040" y="1572768"/>
            <a:ext cx="256032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Platform team (central)</a:t>
            </a:r>
            <a:endParaRPr lang="en-US" sz="1600" dirty="0"/>
          </a:p>
        </p:txBody>
      </p:sp>
      <p:sp>
        <p:nvSpPr>
          <p:cNvPr id="14" name="Text 10"/>
          <p:cNvSpPr txBox="1"/>
          <p:nvPr/>
        </p:nvSpPr>
        <p:spPr>
          <a:xfrm>
            <a:off x="5394960" y="2240280"/>
            <a:ext cx="31089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Check logic (one set of scripts)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Toolbox image, versions pinned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GitLab component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Azure DevOps template</a:t>
            </a:r>
            <a:endParaRPr lang="en-US" sz="1400" dirty="0"/>
          </a:p>
        </p:txBody>
      </p:sp>
      <p:sp>
        <p:nvSpPr>
          <p:cNvPr id="15" name="Text 11"/>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5B6B77"/>
                </a:solidFill>
                <a:latin typeface="Calibri" pitchFamily="34" charset="0"/>
                <a:ea typeface="Calibri" pitchFamily="34" charset="-122"/>
                <a:cs typeface="Calibri" pitchFamily="34" charset="-120"/>
              </a:rPr>
              <a:t>The same scripts and image run on GitLab and Azure DevOps, so the two platforms can't drift apart.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Every merge request runs the same checks</a:t>
            </a:r>
            <a:endParaRPr lang="en-US" sz="2800" dirty="0"/>
          </a:p>
        </p:txBody>
      </p:sp>
      <p:sp>
        <p:nvSpPr>
          <p:cNvPr id="3" name="Shape 1"/>
          <p:cNvSpPr/>
          <p:nvPr/>
        </p:nvSpPr>
        <p:spPr>
          <a:xfrm>
            <a:off x="914400" y="1783080"/>
            <a:ext cx="6949440" cy="0"/>
          </a:xfrm>
          <a:prstGeom prst="line">
            <a:avLst/>
          </a:prstGeom>
          <a:noFill/>
          <a:ln w="25400">
            <a:solidFill>
              <a:srgbClr val="C9D3D9"/>
            </a:solidFill>
            <a:prstDash val="solid"/>
          </a:ln>
        </p:spPr>
      </p:sp>
      <p:sp>
        <p:nvSpPr>
          <p:cNvPr id="4" name="Shape 2"/>
          <p:cNvSpPr/>
          <p:nvPr/>
        </p:nvSpPr>
        <p:spPr>
          <a:xfrm>
            <a:off x="548640" y="1417320"/>
            <a:ext cx="731520" cy="731520"/>
          </a:xfrm>
          <a:prstGeom prst="ellipse">
            <a:avLst/>
          </a:prstGeom>
          <a:solidFill>
            <a:srgbClr val="14232E"/>
          </a:solidFill>
          <a:ln w="12700">
            <a:solidFill>
              <a:srgbClr val="14232E"/>
            </a:solidFill>
            <a:prstDash val="solid"/>
          </a:ln>
        </p:spPr>
      </p:sp>
      <p:pic>
        <p:nvPicPr>
          <p:cNvPr id="5" name="Image 0" descr="preencoded.png">    </p:cNvPr>
          <p:cNvPicPr>
            <a:picLocks noChangeAspect="1"/>
          </p:cNvPicPr>
          <p:nvPr/>
        </p:nvPicPr>
        <p:blipFill>
          <a:blip r:embed="rId1"/>
          <a:stretch>
            <a:fillRect/>
          </a:stretch>
        </p:blipFill>
        <p:spPr>
          <a:xfrm>
            <a:off x="731520" y="1600200"/>
            <a:ext cx="365760" cy="365760"/>
          </a:xfrm>
          <a:prstGeom prst="rect">
            <a:avLst/>
          </a:prstGeom>
        </p:spPr>
      </p:pic>
      <p:sp>
        <p:nvSpPr>
          <p:cNvPr id="6" name="Text 3"/>
          <p:cNvSpPr txBox="1"/>
          <p:nvPr/>
        </p:nvSpPr>
        <p:spPr>
          <a:xfrm>
            <a:off x="274320" y="2286000"/>
            <a:ext cx="1280160" cy="320040"/>
          </a:xfrm>
          <a:prstGeom prst="rect">
            <a:avLst/>
          </a:prstGeom>
          <a:noFill/>
          <a:ln/>
        </p:spPr>
        <p:txBody>
          <a:bodyPr wrap="square" lIns="0" tIns="0" rIns="0" bIns="0" rtlCol="0" anchor="t"/>
          <a:lstStyle/>
          <a:p>
            <a:pPr algn="ctr" indent="0" marL="0">
              <a:buNone/>
            </a:pPr>
            <a:r>
              <a:rPr lang="en-US" sz="1400" b="1" dirty="0">
                <a:solidFill>
                  <a:srgbClr val="1F2D38"/>
                </a:solidFill>
                <a:latin typeface="Calibri" pitchFamily="34" charset="0"/>
                <a:ea typeface="Calibri" pitchFamily="34" charset="-122"/>
                <a:cs typeface="Calibri" pitchFamily="34" charset="-120"/>
              </a:rPr>
              <a:t>Validate</a:t>
            </a:r>
            <a:endParaRPr lang="en-US" sz="1400" dirty="0"/>
          </a:p>
        </p:txBody>
      </p:sp>
      <p:sp>
        <p:nvSpPr>
          <p:cNvPr id="7" name="Text 4"/>
          <p:cNvSpPr txBox="1"/>
          <p:nvPr/>
        </p:nvSpPr>
        <p:spPr>
          <a:xfrm>
            <a:off x="274320" y="2624328"/>
            <a:ext cx="1280160" cy="82296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MR title + work item, secrets, Makefile contract</a:t>
            </a:r>
            <a:endParaRPr lang="en-US" sz="1100" dirty="0"/>
          </a:p>
        </p:txBody>
      </p:sp>
      <p:sp>
        <p:nvSpPr>
          <p:cNvPr id="8" name="Shape 5"/>
          <p:cNvSpPr/>
          <p:nvPr/>
        </p:nvSpPr>
        <p:spPr>
          <a:xfrm>
            <a:off x="1938528" y="1417320"/>
            <a:ext cx="731520" cy="731520"/>
          </a:xfrm>
          <a:prstGeom prst="ellipse">
            <a:avLst/>
          </a:prstGeom>
          <a:solidFill>
            <a:srgbClr val="14232E"/>
          </a:solidFill>
          <a:ln w="12700">
            <a:solidFill>
              <a:srgbClr val="14232E"/>
            </a:solidFill>
            <a:prstDash val="solid"/>
          </a:ln>
        </p:spPr>
      </p:sp>
      <p:pic>
        <p:nvPicPr>
          <p:cNvPr id="9" name="Image 1" descr="preencoded.png">    </p:cNvPr>
          <p:cNvPicPr>
            <a:picLocks noChangeAspect="1"/>
          </p:cNvPicPr>
          <p:nvPr/>
        </p:nvPicPr>
        <p:blipFill>
          <a:blip r:embed="rId2"/>
          <a:stretch>
            <a:fillRect/>
          </a:stretch>
        </p:blipFill>
        <p:spPr>
          <a:xfrm>
            <a:off x="2121408" y="1600200"/>
            <a:ext cx="365760" cy="365760"/>
          </a:xfrm>
          <a:prstGeom prst="rect">
            <a:avLst/>
          </a:prstGeom>
        </p:spPr>
      </p:pic>
      <p:sp>
        <p:nvSpPr>
          <p:cNvPr id="10" name="Text 6"/>
          <p:cNvSpPr txBox="1"/>
          <p:nvPr/>
        </p:nvSpPr>
        <p:spPr>
          <a:xfrm>
            <a:off x="1664208" y="2286000"/>
            <a:ext cx="1280160" cy="320040"/>
          </a:xfrm>
          <a:prstGeom prst="rect">
            <a:avLst/>
          </a:prstGeom>
          <a:noFill/>
          <a:ln/>
        </p:spPr>
        <p:txBody>
          <a:bodyPr wrap="square" lIns="0" tIns="0" rIns="0" bIns="0" rtlCol="0" anchor="t"/>
          <a:lstStyle/>
          <a:p>
            <a:pPr algn="ctr" indent="0" marL="0">
              <a:buNone/>
            </a:pPr>
            <a:r>
              <a:rPr lang="en-US" sz="1400" b="1" dirty="0">
                <a:solidFill>
                  <a:srgbClr val="1F2D38"/>
                </a:solidFill>
                <a:latin typeface="Calibri" pitchFamily="34" charset="0"/>
                <a:ea typeface="Calibri" pitchFamily="34" charset="-122"/>
                <a:cs typeface="Calibri" pitchFamily="34" charset="-120"/>
              </a:rPr>
              <a:t>Test</a:t>
            </a:r>
            <a:endParaRPr lang="en-US" sz="1400" dirty="0"/>
          </a:p>
        </p:txBody>
      </p:sp>
      <p:sp>
        <p:nvSpPr>
          <p:cNvPr id="11" name="Text 7"/>
          <p:cNvSpPr txBox="1"/>
          <p:nvPr/>
        </p:nvSpPr>
        <p:spPr>
          <a:xfrm>
            <a:off x="1664208" y="2624328"/>
            <a:ext cx="1280160" cy="82296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make lint, make coverage (any language)</a:t>
            </a:r>
            <a:endParaRPr lang="en-US" sz="1100" dirty="0"/>
          </a:p>
        </p:txBody>
      </p:sp>
      <p:sp>
        <p:nvSpPr>
          <p:cNvPr id="12" name="Shape 8"/>
          <p:cNvSpPr/>
          <p:nvPr/>
        </p:nvSpPr>
        <p:spPr>
          <a:xfrm>
            <a:off x="3328416" y="1417320"/>
            <a:ext cx="731520" cy="731520"/>
          </a:xfrm>
          <a:prstGeom prst="ellipse">
            <a:avLst/>
          </a:prstGeom>
          <a:solidFill>
            <a:srgbClr val="1FA971"/>
          </a:solidFill>
          <a:ln w="12700">
            <a:solidFill>
              <a:srgbClr val="1FA971"/>
            </a:solidFill>
            <a:prstDash val="solid"/>
          </a:ln>
        </p:spPr>
      </p:sp>
      <p:pic>
        <p:nvPicPr>
          <p:cNvPr id="13" name="Image 2" descr="preencoded.png">    </p:cNvPr>
          <p:cNvPicPr>
            <a:picLocks noChangeAspect="1"/>
          </p:cNvPicPr>
          <p:nvPr/>
        </p:nvPicPr>
        <p:blipFill>
          <a:blip r:embed="rId3"/>
          <a:stretch>
            <a:fillRect/>
          </a:stretch>
        </p:blipFill>
        <p:spPr>
          <a:xfrm>
            <a:off x="3511296" y="1600200"/>
            <a:ext cx="365760" cy="365760"/>
          </a:xfrm>
          <a:prstGeom prst="rect">
            <a:avLst/>
          </a:prstGeom>
        </p:spPr>
      </p:pic>
      <p:sp>
        <p:nvSpPr>
          <p:cNvPr id="14" name="Text 9"/>
          <p:cNvSpPr txBox="1"/>
          <p:nvPr/>
        </p:nvSpPr>
        <p:spPr>
          <a:xfrm>
            <a:off x="3054096" y="2286000"/>
            <a:ext cx="1280160" cy="320040"/>
          </a:xfrm>
          <a:prstGeom prst="rect">
            <a:avLst/>
          </a:prstGeom>
          <a:noFill/>
          <a:ln/>
        </p:spPr>
        <p:txBody>
          <a:bodyPr wrap="square" lIns="0" tIns="0" rIns="0" bIns="0" rtlCol="0" anchor="t"/>
          <a:lstStyle/>
          <a:p>
            <a:pPr algn="ctr" indent="0" marL="0">
              <a:buNone/>
            </a:pPr>
            <a:r>
              <a:rPr lang="en-US" sz="1400" b="1" dirty="0">
                <a:solidFill>
                  <a:srgbClr val="1F2D38"/>
                </a:solidFill>
                <a:latin typeface="Calibri" pitchFamily="34" charset="0"/>
                <a:ea typeface="Calibri" pitchFamily="34" charset="-122"/>
                <a:cs typeface="Calibri" pitchFamily="34" charset="-120"/>
              </a:rPr>
              <a:t>Quality check</a:t>
            </a:r>
            <a:endParaRPr lang="en-US" sz="1400" dirty="0"/>
          </a:p>
        </p:txBody>
      </p:sp>
      <p:sp>
        <p:nvSpPr>
          <p:cNvPr id="15" name="Text 10"/>
          <p:cNvSpPr txBox="1"/>
          <p:nvPr/>
        </p:nvSpPr>
        <p:spPr>
          <a:xfrm>
            <a:off x="3054096" y="2624328"/>
            <a:ext cx="1280160" cy="82296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 80% coverage on new lines, 0 failures</a:t>
            </a:r>
            <a:endParaRPr lang="en-US" sz="1100" dirty="0"/>
          </a:p>
        </p:txBody>
      </p:sp>
      <p:sp>
        <p:nvSpPr>
          <p:cNvPr id="16" name="Shape 11"/>
          <p:cNvSpPr/>
          <p:nvPr/>
        </p:nvSpPr>
        <p:spPr>
          <a:xfrm>
            <a:off x="4718304" y="1417320"/>
            <a:ext cx="731520" cy="731520"/>
          </a:xfrm>
          <a:prstGeom prst="ellipse">
            <a:avLst/>
          </a:prstGeom>
          <a:solidFill>
            <a:srgbClr val="14232E"/>
          </a:solidFill>
          <a:ln w="12700">
            <a:solidFill>
              <a:srgbClr val="14232E"/>
            </a:solidFill>
            <a:prstDash val="solid"/>
          </a:ln>
        </p:spPr>
      </p:sp>
      <p:pic>
        <p:nvPicPr>
          <p:cNvPr id="17" name="Image 3" descr="preencoded.png">    </p:cNvPr>
          <p:cNvPicPr>
            <a:picLocks noChangeAspect="1"/>
          </p:cNvPicPr>
          <p:nvPr/>
        </p:nvPicPr>
        <p:blipFill>
          <a:blip r:embed="rId4"/>
          <a:stretch>
            <a:fillRect/>
          </a:stretch>
        </p:blipFill>
        <p:spPr>
          <a:xfrm>
            <a:off x="4901184" y="1600200"/>
            <a:ext cx="365760" cy="365760"/>
          </a:xfrm>
          <a:prstGeom prst="rect">
            <a:avLst/>
          </a:prstGeom>
        </p:spPr>
      </p:pic>
      <p:sp>
        <p:nvSpPr>
          <p:cNvPr id="18" name="Text 12"/>
          <p:cNvSpPr txBox="1"/>
          <p:nvPr/>
        </p:nvSpPr>
        <p:spPr>
          <a:xfrm>
            <a:off x="4443984" y="2286000"/>
            <a:ext cx="1280160" cy="320040"/>
          </a:xfrm>
          <a:prstGeom prst="rect">
            <a:avLst/>
          </a:prstGeom>
          <a:noFill/>
          <a:ln/>
        </p:spPr>
        <p:txBody>
          <a:bodyPr wrap="square" lIns="0" tIns="0" rIns="0" bIns="0" rtlCol="0" anchor="t"/>
          <a:lstStyle/>
          <a:p>
            <a:pPr algn="ctr" indent="0" marL="0">
              <a:buNone/>
            </a:pPr>
            <a:r>
              <a:rPr lang="en-US" sz="1400" b="1" dirty="0">
                <a:solidFill>
                  <a:srgbClr val="1F2D38"/>
                </a:solidFill>
                <a:latin typeface="Calibri" pitchFamily="34" charset="0"/>
                <a:ea typeface="Calibri" pitchFamily="34" charset="-122"/>
                <a:cs typeface="Calibri" pitchFamily="34" charset="-120"/>
              </a:rPr>
              <a:t>Build</a:t>
            </a:r>
            <a:endParaRPr lang="en-US" sz="1400" dirty="0"/>
          </a:p>
        </p:txBody>
      </p:sp>
      <p:sp>
        <p:nvSpPr>
          <p:cNvPr id="19" name="Text 13"/>
          <p:cNvSpPr txBox="1"/>
          <p:nvPr/>
        </p:nvSpPr>
        <p:spPr>
          <a:xfrm>
            <a:off x="4443984" y="2624328"/>
            <a:ext cx="1280160" cy="82296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main branch only</a:t>
            </a:r>
            <a:endParaRPr lang="en-US" sz="1100" dirty="0"/>
          </a:p>
        </p:txBody>
      </p:sp>
      <p:sp>
        <p:nvSpPr>
          <p:cNvPr id="20" name="Shape 14"/>
          <p:cNvSpPr/>
          <p:nvPr/>
        </p:nvSpPr>
        <p:spPr>
          <a:xfrm>
            <a:off x="6108192" y="1417320"/>
            <a:ext cx="731520" cy="731520"/>
          </a:xfrm>
          <a:prstGeom prst="ellipse">
            <a:avLst/>
          </a:prstGeom>
          <a:solidFill>
            <a:srgbClr val="14232E"/>
          </a:solidFill>
          <a:ln w="12700">
            <a:solidFill>
              <a:srgbClr val="14232E"/>
            </a:solidFill>
            <a:prstDash val="solid"/>
          </a:ln>
        </p:spPr>
      </p:sp>
      <p:pic>
        <p:nvPicPr>
          <p:cNvPr id="21" name="Image 4" descr="preencoded.png">    </p:cNvPr>
          <p:cNvPicPr>
            <a:picLocks noChangeAspect="1"/>
          </p:cNvPicPr>
          <p:nvPr/>
        </p:nvPicPr>
        <p:blipFill>
          <a:blip r:embed="rId5"/>
          <a:stretch>
            <a:fillRect/>
          </a:stretch>
        </p:blipFill>
        <p:spPr>
          <a:xfrm>
            <a:off x="6291072" y="1600200"/>
            <a:ext cx="365760" cy="365760"/>
          </a:xfrm>
          <a:prstGeom prst="rect">
            <a:avLst/>
          </a:prstGeom>
        </p:spPr>
      </p:pic>
      <p:sp>
        <p:nvSpPr>
          <p:cNvPr id="22" name="Text 15"/>
          <p:cNvSpPr txBox="1"/>
          <p:nvPr/>
        </p:nvSpPr>
        <p:spPr>
          <a:xfrm>
            <a:off x="5833872" y="2286000"/>
            <a:ext cx="1280160" cy="320040"/>
          </a:xfrm>
          <a:prstGeom prst="rect">
            <a:avLst/>
          </a:prstGeom>
          <a:noFill/>
          <a:ln/>
        </p:spPr>
        <p:txBody>
          <a:bodyPr wrap="square" lIns="0" tIns="0" rIns="0" bIns="0" rtlCol="0" anchor="t"/>
          <a:lstStyle/>
          <a:p>
            <a:pPr algn="ctr" indent="0" marL="0">
              <a:buNone/>
            </a:pPr>
            <a:r>
              <a:rPr lang="en-US" sz="1400" b="1" dirty="0">
                <a:solidFill>
                  <a:srgbClr val="1F2D38"/>
                </a:solidFill>
                <a:latin typeface="Calibri" pitchFamily="34" charset="0"/>
                <a:ea typeface="Calibri" pitchFamily="34" charset="-122"/>
                <a:cs typeface="Calibri" pitchFamily="34" charset="-120"/>
              </a:rPr>
              <a:t>Release</a:t>
            </a:r>
            <a:endParaRPr lang="en-US" sz="1400" dirty="0"/>
          </a:p>
        </p:txBody>
      </p:sp>
      <p:sp>
        <p:nvSpPr>
          <p:cNvPr id="23" name="Text 16"/>
          <p:cNvSpPr txBox="1"/>
          <p:nvPr/>
        </p:nvSpPr>
        <p:spPr>
          <a:xfrm>
            <a:off x="5833872" y="2624328"/>
            <a:ext cx="1280160" cy="82296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Auto version tag vX.Y.Z from titles</a:t>
            </a:r>
            <a:endParaRPr lang="en-US" sz="1100" dirty="0"/>
          </a:p>
        </p:txBody>
      </p:sp>
      <p:sp>
        <p:nvSpPr>
          <p:cNvPr id="24" name="Shape 17"/>
          <p:cNvSpPr/>
          <p:nvPr/>
        </p:nvSpPr>
        <p:spPr>
          <a:xfrm>
            <a:off x="7498080" y="1417320"/>
            <a:ext cx="731520" cy="731520"/>
          </a:xfrm>
          <a:prstGeom prst="ellipse">
            <a:avLst/>
          </a:prstGeom>
          <a:solidFill>
            <a:srgbClr val="14232E"/>
          </a:solidFill>
          <a:ln w="12700">
            <a:solidFill>
              <a:srgbClr val="14232E"/>
            </a:solidFill>
            <a:prstDash val="solid"/>
          </a:ln>
        </p:spPr>
      </p:sp>
      <p:pic>
        <p:nvPicPr>
          <p:cNvPr id="25" name="Image 5" descr="preencoded.png">    </p:cNvPr>
          <p:cNvPicPr>
            <a:picLocks noChangeAspect="1"/>
          </p:cNvPicPr>
          <p:nvPr/>
        </p:nvPicPr>
        <p:blipFill>
          <a:blip r:embed="rId6"/>
          <a:stretch>
            <a:fillRect/>
          </a:stretch>
        </p:blipFill>
        <p:spPr>
          <a:xfrm>
            <a:off x="7680960" y="1600200"/>
            <a:ext cx="365760" cy="365760"/>
          </a:xfrm>
          <a:prstGeom prst="rect">
            <a:avLst/>
          </a:prstGeom>
        </p:spPr>
      </p:pic>
      <p:sp>
        <p:nvSpPr>
          <p:cNvPr id="26" name="Text 18"/>
          <p:cNvSpPr txBox="1"/>
          <p:nvPr/>
        </p:nvSpPr>
        <p:spPr>
          <a:xfrm>
            <a:off x="7223760" y="2286000"/>
            <a:ext cx="1280160" cy="320040"/>
          </a:xfrm>
          <a:prstGeom prst="rect">
            <a:avLst/>
          </a:prstGeom>
          <a:noFill/>
          <a:ln/>
        </p:spPr>
        <p:txBody>
          <a:bodyPr wrap="square" lIns="0" tIns="0" rIns="0" bIns="0" rtlCol="0" anchor="t"/>
          <a:lstStyle/>
          <a:p>
            <a:pPr algn="ctr" indent="0" marL="0">
              <a:buNone/>
            </a:pPr>
            <a:r>
              <a:rPr lang="en-US" sz="1400" b="1" dirty="0">
                <a:solidFill>
                  <a:srgbClr val="1F2D38"/>
                </a:solidFill>
                <a:latin typeface="Calibri" pitchFamily="34" charset="0"/>
                <a:ea typeface="Calibri" pitchFamily="34" charset="-122"/>
                <a:cs typeface="Calibri" pitchFamily="34" charset="-120"/>
              </a:rPr>
              <a:t>Deploy</a:t>
            </a:r>
            <a:endParaRPr lang="en-US" sz="1400" dirty="0"/>
          </a:p>
        </p:txBody>
      </p:sp>
      <p:sp>
        <p:nvSpPr>
          <p:cNvPr id="27" name="Text 19"/>
          <p:cNvSpPr txBox="1"/>
          <p:nvPr/>
        </p:nvSpPr>
        <p:spPr>
          <a:xfrm>
            <a:off x="7223760" y="2624328"/>
            <a:ext cx="1280160" cy="82296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main only, after all checks pass</a:t>
            </a:r>
            <a:endParaRPr lang="en-US" sz="1100" dirty="0"/>
          </a:p>
        </p:txBody>
      </p:sp>
      <p:sp>
        <p:nvSpPr>
          <p:cNvPr id="28" name="Shape 20"/>
          <p:cNvSpPr/>
          <p:nvPr/>
        </p:nvSpPr>
        <p:spPr>
          <a:xfrm>
            <a:off x="457200" y="3794760"/>
            <a:ext cx="8229600" cy="822960"/>
          </a:xfrm>
          <a:prstGeom prst="roundRect">
            <a:avLst>
              <a:gd name="adj" fmla="val 8889"/>
            </a:avLst>
          </a:prstGeom>
          <a:solidFill>
            <a:srgbClr val="EEF3F5"/>
          </a:solidFill>
          <a:ln w="12700">
            <a:solidFill>
              <a:srgbClr val="EEF3F5"/>
            </a:solidFill>
            <a:prstDash val="solid"/>
          </a:ln>
        </p:spPr>
      </p:sp>
      <p:sp>
        <p:nvSpPr>
          <p:cNvPr id="29" name="Text 21"/>
          <p:cNvSpPr txBox="1"/>
          <p:nvPr/>
        </p:nvSpPr>
        <p:spPr>
          <a:xfrm>
            <a:off x="685800" y="3931920"/>
            <a:ext cx="7772400" cy="548640"/>
          </a:xfrm>
          <a:prstGeom prst="rect">
            <a:avLst/>
          </a:prstGeom>
          <a:noFill/>
          <a:ln/>
        </p:spPr>
        <p:txBody>
          <a:bodyPr wrap="square" lIns="0" tIns="0" rIns="0" bIns="0" rtlCol="0" anchor="ctr"/>
          <a:lstStyle/>
          <a:p>
            <a:pPr indent="0" marL="0">
              <a:buNone/>
            </a:pPr>
            <a:r>
              <a:rPr lang="en-US" sz="1400" b="1" dirty="0">
                <a:solidFill>
                  <a:srgbClr val="1F2D38"/>
                </a:solidFill>
                <a:latin typeface="Calibri" pitchFamily="34" charset="0"/>
                <a:ea typeface="Calibri" pitchFamily="34" charset="-122"/>
                <a:cs typeface="Calibri" pitchFamily="34" charset="-120"/>
              </a:rPr>
              <a:t>Team effort to onboard: </a:t>
            </a:r>
            <a:pPr indent="0" marL="0">
              <a:buNone/>
            </a:pPr>
            <a:r>
              <a:rPr lang="en-US" sz="1400" dirty="0">
                <a:solidFill>
                  <a:srgbClr val="1F2D38"/>
                </a:solidFill>
                <a:latin typeface="Calibri" pitchFamily="34" charset="0"/>
                <a:ea typeface="Calibri" pitchFamily="34" charset="-122"/>
                <a:cs typeface="Calibri" pitchFamily="34" charset="-120"/>
              </a:rPr>
              <a:t>one include line plus a 5-target Makefile. Starters exist for all 8 of our stacks, from Go to Angular.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One contract, every stack we use</a:t>
            </a:r>
            <a:endParaRPr lang="en-US" sz="2800" dirty="0"/>
          </a:p>
        </p:txBody>
      </p:sp>
      <p:sp>
        <p:nvSpPr>
          <p:cNvPr id="3" name="Text 1"/>
          <p:cNvSpPr txBox="1"/>
          <p:nvPr/>
        </p:nvSpPr>
        <p:spPr>
          <a:xfrm>
            <a:off x="457200" y="914400"/>
            <a:ext cx="8229600" cy="320040"/>
          </a:xfrm>
          <a:prstGeom prst="rect">
            <a:avLst/>
          </a:prstGeom>
          <a:noFill/>
          <a:ln/>
        </p:spPr>
        <p:txBody>
          <a:bodyPr wrap="square" lIns="0" tIns="0" rIns="0" bIns="0" rtlCol="0" anchor="t"/>
          <a:lstStyle/>
          <a:p>
            <a:pPr indent="0" marL="0">
              <a:buNone/>
            </a:pPr>
            <a:r>
              <a:rPr lang="en-US" sz="1400" dirty="0">
                <a:solidFill>
                  <a:srgbClr val="5B6B77"/>
                </a:solidFill>
                <a:latin typeface="Calibri" pitchFamily="34" charset="0"/>
                <a:ea typeface="Calibri" pitchFamily="34" charset="-122"/>
                <a:cs typeface="Calibri" pitchFamily="34" charset="-120"/>
              </a:rPr>
              <a:t>Each stack has a starter Makefile and a working sample repo that passes the checks.</a:t>
            </a:r>
            <a:endParaRPr lang="en-US" sz="1400" dirty="0"/>
          </a:p>
        </p:txBody>
      </p:sp>
      <p:sp>
        <p:nvSpPr>
          <p:cNvPr id="4" name="Shape 2"/>
          <p:cNvSpPr/>
          <p:nvPr/>
        </p:nvSpPr>
        <p:spPr>
          <a:xfrm>
            <a:off x="457200" y="1371600"/>
            <a:ext cx="1920240" cy="1371600"/>
          </a:xfrm>
          <a:prstGeom prst="roundRect">
            <a:avLst>
              <a:gd name="adj" fmla="val 5333"/>
            </a:avLst>
          </a:prstGeom>
          <a:solidFill>
            <a:srgbClr val="EEF3F5"/>
          </a:solidFill>
          <a:ln w="12700">
            <a:solidFill>
              <a:srgbClr val="EEF3F5"/>
            </a:solidFill>
            <a:prstDash val="solid"/>
          </a:ln>
        </p:spPr>
      </p:sp>
      <p:sp>
        <p:nvSpPr>
          <p:cNvPr id="5" name="Shape 3"/>
          <p:cNvSpPr/>
          <p:nvPr/>
        </p:nvSpPr>
        <p:spPr>
          <a:xfrm>
            <a:off x="594360" y="1508760"/>
            <a:ext cx="365760" cy="365760"/>
          </a:xfrm>
          <a:prstGeom prst="ellipse">
            <a:avLst/>
          </a:prstGeom>
          <a:solidFill>
            <a:srgbClr val="14232E"/>
          </a:solidFill>
          <a:ln w="12700">
            <a:solidFill>
              <a:srgbClr val="14232E"/>
            </a:solidFill>
            <a:prstDash val="solid"/>
          </a:ln>
        </p:spPr>
      </p:sp>
      <p:pic>
        <p:nvPicPr>
          <p:cNvPr id="6" name="Image 0" descr="preencoded.png">    </p:cNvPr>
          <p:cNvPicPr>
            <a:picLocks noChangeAspect="1"/>
          </p:cNvPicPr>
          <p:nvPr/>
        </p:nvPicPr>
        <p:blipFill>
          <a:blip r:embed="rId1"/>
          <a:stretch>
            <a:fillRect/>
          </a:stretch>
        </p:blipFill>
        <p:spPr>
          <a:xfrm>
            <a:off x="685800" y="1600200"/>
            <a:ext cx="182880" cy="182880"/>
          </a:xfrm>
          <a:prstGeom prst="rect">
            <a:avLst/>
          </a:prstGeom>
        </p:spPr>
      </p:pic>
      <p:sp>
        <p:nvSpPr>
          <p:cNvPr id="7" name="Text 4"/>
          <p:cNvSpPr txBox="1"/>
          <p:nvPr/>
        </p:nvSpPr>
        <p:spPr>
          <a:xfrm>
            <a:off x="594360" y="194767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Go 1.24</a:t>
            </a:r>
            <a:endParaRPr lang="en-US" sz="1350" dirty="0"/>
          </a:p>
        </p:txBody>
      </p:sp>
      <p:sp>
        <p:nvSpPr>
          <p:cNvPr id="8" name="Text 5"/>
          <p:cNvSpPr txBox="1"/>
          <p:nvPr/>
        </p:nvSpPr>
        <p:spPr>
          <a:xfrm>
            <a:off x="594360" y="222199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go test · go-junit-report</a:t>
            </a:r>
            <a:endParaRPr lang="en-US" sz="1000" dirty="0"/>
          </a:p>
        </p:txBody>
      </p:sp>
      <p:sp>
        <p:nvSpPr>
          <p:cNvPr id="9" name="Shape 6"/>
          <p:cNvSpPr/>
          <p:nvPr/>
        </p:nvSpPr>
        <p:spPr>
          <a:xfrm>
            <a:off x="594360" y="2450592"/>
            <a:ext cx="1188720" cy="201168"/>
          </a:xfrm>
          <a:prstGeom prst="roundRect">
            <a:avLst>
              <a:gd name="adj" fmla="val 50000"/>
            </a:avLst>
          </a:prstGeom>
          <a:solidFill>
            <a:srgbClr val="E4F5EC"/>
          </a:solidFill>
          <a:ln w="12700">
            <a:solidFill>
              <a:srgbClr val="E4F5EC"/>
            </a:solidFill>
            <a:prstDash val="solid"/>
          </a:ln>
        </p:spPr>
      </p:sp>
      <p:sp>
        <p:nvSpPr>
          <p:cNvPr id="10" name="Text 7"/>
          <p:cNvSpPr txBox="1"/>
          <p:nvPr/>
        </p:nvSpPr>
        <p:spPr>
          <a:xfrm>
            <a:off x="594360" y="2450592"/>
            <a:ext cx="1188720" cy="201168"/>
          </a:xfrm>
          <a:prstGeom prst="rect">
            <a:avLst/>
          </a:prstGeom>
          <a:noFill/>
          <a:ln/>
        </p:spPr>
        <p:txBody>
          <a:bodyPr wrap="square" lIns="0" tIns="0" rIns="0" bIns="0" rtlCol="0" anchor="ctr"/>
          <a:lstStyle/>
          <a:p>
            <a:pPr algn="ctr" indent="0" marL="0">
              <a:buNone/>
            </a:pPr>
            <a:r>
              <a:rPr lang="en-US" sz="950" b="1" dirty="0">
                <a:solidFill>
                  <a:srgbClr val="157A52"/>
                </a:solidFill>
                <a:latin typeface="Calibri" pitchFamily="34" charset="0"/>
                <a:ea typeface="Calibri" pitchFamily="34" charset="-122"/>
                <a:cs typeface="Calibri" pitchFamily="34" charset="-120"/>
              </a:rPr>
              <a:t>Tested end to end</a:t>
            </a:r>
            <a:endParaRPr lang="en-US" sz="950" dirty="0"/>
          </a:p>
        </p:txBody>
      </p:sp>
      <p:sp>
        <p:nvSpPr>
          <p:cNvPr id="11" name="Shape 8"/>
          <p:cNvSpPr/>
          <p:nvPr/>
        </p:nvSpPr>
        <p:spPr>
          <a:xfrm>
            <a:off x="2560320" y="1371600"/>
            <a:ext cx="1920240" cy="1371600"/>
          </a:xfrm>
          <a:prstGeom prst="roundRect">
            <a:avLst>
              <a:gd name="adj" fmla="val 5333"/>
            </a:avLst>
          </a:prstGeom>
          <a:solidFill>
            <a:srgbClr val="EEF3F5"/>
          </a:solidFill>
          <a:ln w="12700">
            <a:solidFill>
              <a:srgbClr val="EEF3F5"/>
            </a:solidFill>
            <a:prstDash val="solid"/>
          </a:ln>
        </p:spPr>
      </p:sp>
      <p:sp>
        <p:nvSpPr>
          <p:cNvPr id="12" name="Shape 9"/>
          <p:cNvSpPr/>
          <p:nvPr/>
        </p:nvSpPr>
        <p:spPr>
          <a:xfrm>
            <a:off x="2697480" y="1508760"/>
            <a:ext cx="365760" cy="365760"/>
          </a:xfrm>
          <a:prstGeom prst="ellipse">
            <a:avLst/>
          </a:prstGeom>
          <a:solidFill>
            <a:srgbClr val="14232E"/>
          </a:solidFill>
          <a:ln w="12700">
            <a:solidFill>
              <a:srgbClr val="14232E"/>
            </a:solidFill>
            <a:prstDash val="solid"/>
          </a:ln>
        </p:spPr>
      </p:sp>
      <p:pic>
        <p:nvPicPr>
          <p:cNvPr id="13" name="Image 1" descr="preencoded.png">    </p:cNvPr>
          <p:cNvPicPr>
            <a:picLocks noChangeAspect="1"/>
          </p:cNvPicPr>
          <p:nvPr/>
        </p:nvPicPr>
        <p:blipFill>
          <a:blip r:embed="rId2"/>
          <a:stretch>
            <a:fillRect/>
          </a:stretch>
        </p:blipFill>
        <p:spPr>
          <a:xfrm>
            <a:off x="2788920" y="1600200"/>
            <a:ext cx="182880" cy="182880"/>
          </a:xfrm>
          <a:prstGeom prst="rect">
            <a:avLst/>
          </a:prstGeom>
        </p:spPr>
      </p:pic>
      <p:sp>
        <p:nvSpPr>
          <p:cNvPr id="14" name="Text 10"/>
          <p:cNvSpPr txBox="1"/>
          <p:nvPr/>
        </p:nvSpPr>
        <p:spPr>
          <a:xfrm>
            <a:off x="2697480" y="194767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Python 3.12</a:t>
            </a:r>
            <a:endParaRPr lang="en-US" sz="1350" dirty="0"/>
          </a:p>
        </p:txBody>
      </p:sp>
      <p:sp>
        <p:nvSpPr>
          <p:cNvPr id="15" name="Text 11"/>
          <p:cNvSpPr txBox="1"/>
          <p:nvPr/>
        </p:nvSpPr>
        <p:spPr>
          <a:xfrm>
            <a:off x="2697480" y="222199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pytest · pytest-cov · ruff</a:t>
            </a:r>
            <a:endParaRPr lang="en-US" sz="1000" dirty="0"/>
          </a:p>
        </p:txBody>
      </p:sp>
      <p:sp>
        <p:nvSpPr>
          <p:cNvPr id="16" name="Shape 12"/>
          <p:cNvSpPr/>
          <p:nvPr/>
        </p:nvSpPr>
        <p:spPr>
          <a:xfrm>
            <a:off x="2697480" y="2450592"/>
            <a:ext cx="1188720" cy="201168"/>
          </a:xfrm>
          <a:prstGeom prst="roundRect">
            <a:avLst>
              <a:gd name="adj" fmla="val 50000"/>
            </a:avLst>
          </a:prstGeom>
          <a:solidFill>
            <a:srgbClr val="E4F5EC"/>
          </a:solidFill>
          <a:ln w="12700">
            <a:solidFill>
              <a:srgbClr val="E4F5EC"/>
            </a:solidFill>
            <a:prstDash val="solid"/>
          </a:ln>
        </p:spPr>
      </p:sp>
      <p:sp>
        <p:nvSpPr>
          <p:cNvPr id="17" name="Text 13"/>
          <p:cNvSpPr txBox="1"/>
          <p:nvPr/>
        </p:nvSpPr>
        <p:spPr>
          <a:xfrm>
            <a:off x="2697480" y="2450592"/>
            <a:ext cx="1188720" cy="201168"/>
          </a:xfrm>
          <a:prstGeom prst="rect">
            <a:avLst/>
          </a:prstGeom>
          <a:noFill/>
          <a:ln/>
        </p:spPr>
        <p:txBody>
          <a:bodyPr wrap="square" lIns="0" tIns="0" rIns="0" bIns="0" rtlCol="0" anchor="ctr"/>
          <a:lstStyle/>
          <a:p>
            <a:pPr algn="ctr" indent="0" marL="0">
              <a:buNone/>
            </a:pPr>
            <a:r>
              <a:rPr lang="en-US" sz="950" b="1" dirty="0">
                <a:solidFill>
                  <a:srgbClr val="157A52"/>
                </a:solidFill>
                <a:latin typeface="Calibri" pitchFamily="34" charset="0"/>
                <a:ea typeface="Calibri" pitchFamily="34" charset="-122"/>
                <a:cs typeface="Calibri" pitchFamily="34" charset="-120"/>
              </a:rPr>
              <a:t>Tested end to end</a:t>
            </a:r>
            <a:endParaRPr lang="en-US" sz="950" dirty="0"/>
          </a:p>
        </p:txBody>
      </p:sp>
      <p:sp>
        <p:nvSpPr>
          <p:cNvPr id="18" name="Shape 14"/>
          <p:cNvSpPr/>
          <p:nvPr/>
        </p:nvSpPr>
        <p:spPr>
          <a:xfrm>
            <a:off x="4663440" y="1371600"/>
            <a:ext cx="1920240" cy="1371600"/>
          </a:xfrm>
          <a:prstGeom prst="roundRect">
            <a:avLst>
              <a:gd name="adj" fmla="val 5333"/>
            </a:avLst>
          </a:prstGeom>
          <a:solidFill>
            <a:srgbClr val="EEF3F5"/>
          </a:solidFill>
          <a:ln w="12700">
            <a:solidFill>
              <a:srgbClr val="EEF3F5"/>
            </a:solidFill>
            <a:prstDash val="solid"/>
          </a:ln>
        </p:spPr>
      </p:sp>
      <p:sp>
        <p:nvSpPr>
          <p:cNvPr id="19" name="Shape 15"/>
          <p:cNvSpPr/>
          <p:nvPr/>
        </p:nvSpPr>
        <p:spPr>
          <a:xfrm>
            <a:off x="4800600" y="1508760"/>
            <a:ext cx="365760" cy="365760"/>
          </a:xfrm>
          <a:prstGeom prst="ellipse">
            <a:avLst/>
          </a:prstGeom>
          <a:solidFill>
            <a:srgbClr val="14232E"/>
          </a:solidFill>
          <a:ln w="12700">
            <a:solidFill>
              <a:srgbClr val="14232E"/>
            </a:solidFill>
            <a:prstDash val="solid"/>
          </a:ln>
        </p:spPr>
      </p:sp>
      <p:pic>
        <p:nvPicPr>
          <p:cNvPr id="20" name="Image 2" descr="preencoded.png">    </p:cNvPr>
          <p:cNvPicPr>
            <a:picLocks noChangeAspect="1"/>
          </p:cNvPicPr>
          <p:nvPr/>
        </p:nvPicPr>
        <p:blipFill>
          <a:blip r:embed="rId3"/>
          <a:stretch>
            <a:fillRect/>
          </a:stretch>
        </p:blipFill>
        <p:spPr>
          <a:xfrm>
            <a:off x="4892040" y="1600200"/>
            <a:ext cx="182880" cy="182880"/>
          </a:xfrm>
          <a:prstGeom prst="rect">
            <a:avLst/>
          </a:prstGeom>
        </p:spPr>
      </p:pic>
      <p:sp>
        <p:nvSpPr>
          <p:cNvPr id="21" name="Text 16"/>
          <p:cNvSpPr txBox="1"/>
          <p:nvPr/>
        </p:nvSpPr>
        <p:spPr>
          <a:xfrm>
            <a:off x="4800600" y="194767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TypeScript / Node.js</a:t>
            </a:r>
            <a:endParaRPr lang="en-US" sz="1350" dirty="0"/>
          </a:p>
        </p:txBody>
      </p:sp>
      <p:sp>
        <p:nvSpPr>
          <p:cNvPr id="22" name="Text 17"/>
          <p:cNvSpPr txBox="1"/>
          <p:nvPr/>
        </p:nvSpPr>
        <p:spPr>
          <a:xfrm>
            <a:off x="4800600" y="222199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Jest · ts-jest · ESLint</a:t>
            </a:r>
            <a:endParaRPr lang="en-US" sz="1000" dirty="0"/>
          </a:p>
        </p:txBody>
      </p:sp>
      <p:sp>
        <p:nvSpPr>
          <p:cNvPr id="23" name="Shape 18"/>
          <p:cNvSpPr/>
          <p:nvPr/>
        </p:nvSpPr>
        <p:spPr>
          <a:xfrm>
            <a:off x="4800600" y="2450592"/>
            <a:ext cx="1188720" cy="201168"/>
          </a:xfrm>
          <a:prstGeom prst="roundRect">
            <a:avLst>
              <a:gd name="adj" fmla="val 50000"/>
            </a:avLst>
          </a:prstGeom>
          <a:solidFill>
            <a:srgbClr val="E4F5EC"/>
          </a:solidFill>
          <a:ln w="12700">
            <a:solidFill>
              <a:srgbClr val="E4F5EC"/>
            </a:solidFill>
            <a:prstDash val="solid"/>
          </a:ln>
        </p:spPr>
      </p:sp>
      <p:sp>
        <p:nvSpPr>
          <p:cNvPr id="24" name="Text 19"/>
          <p:cNvSpPr txBox="1"/>
          <p:nvPr/>
        </p:nvSpPr>
        <p:spPr>
          <a:xfrm>
            <a:off x="4800600" y="2450592"/>
            <a:ext cx="1188720" cy="201168"/>
          </a:xfrm>
          <a:prstGeom prst="rect">
            <a:avLst/>
          </a:prstGeom>
          <a:noFill/>
          <a:ln/>
        </p:spPr>
        <p:txBody>
          <a:bodyPr wrap="square" lIns="0" tIns="0" rIns="0" bIns="0" rtlCol="0" anchor="ctr"/>
          <a:lstStyle/>
          <a:p>
            <a:pPr algn="ctr" indent="0" marL="0">
              <a:buNone/>
            </a:pPr>
            <a:r>
              <a:rPr lang="en-US" sz="950" b="1" dirty="0">
                <a:solidFill>
                  <a:srgbClr val="157A52"/>
                </a:solidFill>
                <a:latin typeface="Calibri" pitchFamily="34" charset="0"/>
                <a:ea typeface="Calibri" pitchFamily="34" charset="-122"/>
                <a:cs typeface="Calibri" pitchFamily="34" charset="-120"/>
              </a:rPr>
              <a:t>Tested end to end</a:t>
            </a:r>
            <a:endParaRPr lang="en-US" sz="950" dirty="0"/>
          </a:p>
        </p:txBody>
      </p:sp>
      <p:sp>
        <p:nvSpPr>
          <p:cNvPr id="25" name="Shape 20"/>
          <p:cNvSpPr/>
          <p:nvPr/>
        </p:nvSpPr>
        <p:spPr>
          <a:xfrm>
            <a:off x="6766560" y="1371600"/>
            <a:ext cx="1920240" cy="1371600"/>
          </a:xfrm>
          <a:prstGeom prst="roundRect">
            <a:avLst>
              <a:gd name="adj" fmla="val 5333"/>
            </a:avLst>
          </a:prstGeom>
          <a:solidFill>
            <a:srgbClr val="EEF3F5"/>
          </a:solidFill>
          <a:ln w="12700">
            <a:solidFill>
              <a:srgbClr val="EEF3F5"/>
            </a:solidFill>
            <a:prstDash val="solid"/>
          </a:ln>
        </p:spPr>
      </p:sp>
      <p:sp>
        <p:nvSpPr>
          <p:cNvPr id="26" name="Shape 21"/>
          <p:cNvSpPr/>
          <p:nvPr/>
        </p:nvSpPr>
        <p:spPr>
          <a:xfrm>
            <a:off x="6903720" y="1508760"/>
            <a:ext cx="365760" cy="365760"/>
          </a:xfrm>
          <a:prstGeom prst="ellipse">
            <a:avLst/>
          </a:prstGeom>
          <a:solidFill>
            <a:srgbClr val="14232E"/>
          </a:solidFill>
          <a:ln w="12700">
            <a:solidFill>
              <a:srgbClr val="14232E"/>
            </a:solidFill>
            <a:prstDash val="solid"/>
          </a:ln>
        </p:spPr>
      </p:sp>
      <p:pic>
        <p:nvPicPr>
          <p:cNvPr id="27" name="Image 3" descr="preencoded.png">    </p:cNvPr>
          <p:cNvPicPr>
            <a:picLocks noChangeAspect="1"/>
          </p:cNvPicPr>
          <p:nvPr/>
        </p:nvPicPr>
        <p:blipFill>
          <a:blip r:embed="rId4"/>
          <a:stretch>
            <a:fillRect/>
          </a:stretch>
        </p:blipFill>
        <p:spPr>
          <a:xfrm>
            <a:off x="6995160" y="1600200"/>
            <a:ext cx="182880" cy="182880"/>
          </a:xfrm>
          <a:prstGeom prst="rect">
            <a:avLst/>
          </a:prstGeom>
        </p:spPr>
      </p:pic>
      <p:sp>
        <p:nvSpPr>
          <p:cNvPr id="28" name="Text 22"/>
          <p:cNvSpPr txBox="1"/>
          <p:nvPr/>
        </p:nvSpPr>
        <p:spPr>
          <a:xfrm>
            <a:off x="6903720" y="194767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Next.js 16</a:t>
            </a:r>
            <a:endParaRPr lang="en-US" sz="1350" dirty="0"/>
          </a:p>
        </p:txBody>
      </p:sp>
      <p:sp>
        <p:nvSpPr>
          <p:cNvPr id="29" name="Text 23"/>
          <p:cNvSpPr txBox="1"/>
          <p:nvPr/>
        </p:nvSpPr>
        <p:spPr>
          <a:xfrm>
            <a:off x="6903720" y="222199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Jest · Testing Library</a:t>
            </a:r>
            <a:endParaRPr lang="en-US" sz="1000" dirty="0"/>
          </a:p>
        </p:txBody>
      </p:sp>
      <p:sp>
        <p:nvSpPr>
          <p:cNvPr id="30" name="Shape 24"/>
          <p:cNvSpPr/>
          <p:nvPr/>
        </p:nvSpPr>
        <p:spPr>
          <a:xfrm>
            <a:off x="6903720" y="2450592"/>
            <a:ext cx="1188720" cy="201168"/>
          </a:xfrm>
          <a:prstGeom prst="roundRect">
            <a:avLst>
              <a:gd name="adj" fmla="val 50000"/>
            </a:avLst>
          </a:prstGeom>
          <a:solidFill>
            <a:srgbClr val="E4F5EC"/>
          </a:solidFill>
          <a:ln w="12700">
            <a:solidFill>
              <a:srgbClr val="E4F5EC"/>
            </a:solidFill>
            <a:prstDash val="solid"/>
          </a:ln>
        </p:spPr>
      </p:sp>
      <p:sp>
        <p:nvSpPr>
          <p:cNvPr id="31" name="Text 25"/>
          <p:cNvSpPr txBox="1"/>
          <p:nvPr/>
        </p:nvSpPr>
        <p:spPr>
          <a:xfrm>
            <a:off x="6903720" y="2450592"/>
            <a:ext cx="1188720" cy="201168"/>
          </a:xfrm>
          <a:prstGeom prst="rect">
            <a:avLst/>
          </a:prstGeom>
          <a:noFill/>
          <a:ln/>
        </p:spPr>
        <p:txBody>
          <a:bodyPr wrap="square" lIns="0" tIns="0" rIns="0" bIns="0" rtlCol="0" anchor="ctr"/>
          <a:lstStyle/>
          <a:p>
            <a:pPr algn="ctr" indent="0" marL="0">
              <a:buNone/>
            </a:pPr>
            <a:r>
              <a:rPr lang="en-US" sz="950" b="1" dirty="0">
                <a:solidFill>
                  <a:srgbClr val="157A52"/>
                </a:solidFill>
                <a:latin typeface="Calibri" pitchFamily="34" charset="0"/>
                <a:ea typeface="Calibri" pitchFamily="34" charset="-122"/>
                <a:cs typeface="Calibri" pitchFamily="34" charset="-120"/>
              </a:rPr>
              <a:t>Tested end to end</a:t>
            </a:r>
            <a:endParaRPr lang="en-US" sz="950" dirty="0"/>
          </a:p>
        </p:txBody>
      </p:sp>
      <p:sp>
        <p:nvSpPr>
          <p:cNvPr id="32" name="Shape 26"/>
          <p:cNvSpPr/>
          <p:nvPr/>
        </p:nvSpPr>
        <p:spPr>
          <a:xfrm>
            <a:off x="457200" y="2880360"/>
            <a:ext cx="1920240" cy="1371600"/>
          </a:xfrm>
          <a:prstGeom prst="roundRect">
            <a:avLst>
              <a:gd name="adj" fmla="val 5333"/>
            </a:avLst>
          </a:prstGeom>
          <a:solidFill>
            <a:srgbClr val="EEF3F5"/>
          </a:solidFill>
          <a:ln w="12700">
            <a:solidFill>
              <a:srgbClr val="EEF3F5"/>
            </a:solidFill>
            <a:prstDash val="solid"/>
          </a:ln>
        </p:spPr>
      </p:sp>
      <p:sp>
        <p:nvSpPr>
          <p:cNvPr id="33" name="Shape 27"/>
          <p:cNvSpPr/>
          <p:nvPr/>
        </p:nvSpPr>
        <p:spPr>
          <a:xfrm>
            <a:off x="594360" y="3017520"/>
            <a:ext cx="365760" cy="365760"/>
          </a:xfrm>
          <a:prstGeom prst="ellipse">
            <a:avLst/>
          </a:prstGeom>
          <a:solidFill>
            <a:srgbClr val="14232E"/>
          </a:solidFill>
          <a:ln w="12700">
            <a:solidFill>
              <a:srgbClr val="14232E"/>
            </a:solidFill>
            <a:prstDash val="solid"/>
          </a:ln>
        </p:spPr>
      </p:sp>
      <p:pic>
        <p:nvPicPr>
          <p:cNvPr id="34" name="Image 4" descr="preencoded.png">    </p:cNvPr>
          <p:cNvPicPr>
            <a:picLocks noChangeAspect="1"/>
          </p:cNvPicPr>
          <p:nvPr/>
        </p:nvPicPr>
        <p:blipFill>
          <a:blip r:embed="rId5"/>
          <a:stretch>
            <a:fillRect/>
          </a:stretch>
        </p:blipFill>
        <p:spPr>
          <a:xfrm>
            <a:off x="685800" y="3108960"/>
            <a:ext cx="182880" cy="182880"/>
          </a:xfrm>
          <a:prstGeom prst="rect">
            <a:avLst/>
          </a:prstGeom>
        </p:spPr>
      </p:pic>
      <p:sp>
        <p:nvSpPr>
          <p:cNvPr id="35" name="Text 28"/>
          <p:cNvSpPr txBox="1"/>
          <p:nvPr/>
        </p:nvSpPr>
        <p:spPr>
          <a:xfrm>
            <a:off x="594360" y="345643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Angular 21</a:t>
            </a:r>
            <a:endParaRPr lang="en-US" sz="1350" dirty="0"/>
          </a:p>
        </p:txBody>
      </p:sp>
      <p:sp>
        <p:nvSpPr>
          <p:cNvPr id="36" name="Text 29"/>
          <p:cNvSpPr txBox="1"/>
          <p:nvPr/>
        </p:nvSpPr>
        <p:spPr>
          <a:xfrm>
            <a:off x="594360" y="373075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Vitest (ng test) · angular-eslint</a:t>
            </a:r>
            <a:endParaRPr lang="en-US" sz="1000" dirty="0"/>
          </a:p>
        </p:txBody>
      </p:sp>
      <p:sp>
        <p:nvSpPr>
          <p:cNvPr id="37" name="Shape 30"/>
          <p:cNvSpPr/>
          <p:nvPr/>
        </p:nvSpPr>
        <p:spPr>
          <a:xfrm>
            <a:off x="594360" y="3959352"/>
            <a:ext cx="1188720" cy="201168"/>
          </a:xfrm>
          <a:prstGeom prst="roundRect">
            <a:avLst>
              <a:gd name="adj" fmla="val 50000"/>
            </a:avLst>
          </a:prstGeom>
          <a:solidFill>
            <a:srgbClr val="E4F5EC"/>
          </a:solidFill>
          <a:ln w="12700">
            <a:solidFill>
              <a:srgbClr val="E4F5EC"/>
            </a:solidFill>
            <a:prstDash val="solid"/>
          </a:ln>
        </p:spPr>
      </p:sp>
      <p:sp>
        <p:nvSpPr>
          <p:cNvPr id="38" name="Text 31"/>
          <p:cNvSpPr txBox="1"/>
          <p:nvPr/>
        </p:nvSpPr>
        <p:spPr>
          <a:xfrm>
            <a:off x="594360" y="3959352"/>
            <a:ext cx="1188720" cy="201168"/>
          </a:xfrm>
          <a:prstGeom prst="rect">
            <a:avLst/>
          </a:prstGeom>
          <a:noFill/>
          <a:ln/>
        </p:spPr>
        <p:txBody>
          <a:bodyPr wrap="square" lIns="0" tIns="0" rIns="0" bIns="0" rtlCol="0" anchor="ctr"/>
          <a:lstStyle/>
          <a:p>
            <a:pPr algn="ctr" indent="0" marL="0">
              <a:buNone/>
            </a:pPr>
            <a:r>
              <a:rPr lang="en-US" sz="950" b="1" dirty="0">
                <a:solidFill>
                  <a:srgbClr val="157A52"/>
                </a:solidFill>
                <a:latin typeface="Calibri" pitchFamily="34" charset="0"/>
                <a:ea typeface="Calibri" pitchFamily="34" charset="-122"/>
                <a:cs typeface="Calibri" pitchFamily="34" charset="-120"/>
              </a:rPr>
              <a:t>Tested end to end</a:t>
            </a:r>
            <a:endParaRPr lang="en-US" sz="950" dirty="0"/>
          </a:p>
        </p:txBody>
      </p:sp>
      <p:sp>
        <p:nvSpPr>
          <p:cNvPr id="39" name="Shape 32"/>
          <p:cNvSpPr/>
          <p:nvPr/>
        </p:nvSpPr>
        <p:spPr>
          <a:xfrm>
            <a:off x="2560320" y="2880360"/>
            <a:ext cx="1920240" cy="1371600"/>
          </a:xfrm>
          <a:prstGeom prst="roundRect">
            <a:avLst>
              <a:gd name="adj" fmla="val 5333"/>
            </a:avLst>
          </a:prstGeom>
          <a:solidFill>
            <a:srgbClr val="EEF3F5"/>
          </a:solidFill>
          <a:ln w="12700">
            <a:solidFill>
              <a:srgbClr val="EEF3F5"/>
            </a:solidFill>
            <a:prstDash val="solid"/>
          </a:ln>
        </p:spPr>
      </p:sp>
      <p:sp>
        <p:nvSpPr>
          <p:cNvPr id="40" name="Shape 33"/>
          <p:cNvSpPr/>
          <p:nvPr/>
        </p:nvSpPr>
        <p:spPr>
          <a:xfrm>
            <a:off x="2697480" y="3017520"/>
            <a:ext cx="365760" cy="365760"/>
          </a:xfrm>
          <a:prstGeom prst="ellipse">
            <a:avLst/>
          </a:prstGeom>
          <a:solidFill>
            <a:srgbClr val="14232E"/>
          </a:solidFill>
          <a:ln w="12700">
            <a:solidFill>
              <a:srgbClr val="14232E"/>
            </a:solidFill>
            <a:prstDash val="solid"/>
          </a:ln>
        </p:spPr>
      </p:sp>
      <p:pic>
        <p:nvPicPr>
          <p:cNvPr id="41" name="Image 5" descr="preencoded.png">    </p:cNvPr>
          <p:cNvPicPr>
            <a:picLocks noChangeAspect="1"/>
          </p:cNvPicPr>
          <p:nvPr/>
        </p:nvPicPr>
        <p:blipFill>
          <a:blip r:embed="rId6"/>
          <a:stretch>
            <a:fillRect/>
          </a:stretch>
        </p:blipFill>
        <p:spPr>
          <a:xfrm>
            <a:off x="2788920" y="3108960"/>
            <a:ext cx="182880" cy="182880"/>
          </a:xfrm>
          <a:prstGeom prst="rect">
            <a:avLst/>
          </a:prstGeom>
        </p:spPr>
      </p:pic>
      <p:sp>
        <p:nvSpPr>
          <p:cNvPr id="42" name="Text 34"/>
          <p:cNvSpPr txBox="1"/>
          <p:nvPr/>
        </p:nvSpPr>
        <p:spPr>
          <a:xfrm>
            <a:off x="2697480" y="345643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.NET 8 · C#</a:t>
            </a:r>
            <a:endParaRPr lang="en-US" sz="1350" dirty="0"/>
          </a:p>
        </p:txBody>
      </p:sp>
      <p:sp>
        <p:nvSpPr>
          <p:cNvPr id="43" name="Text 35"/>
          <p:cNvSpPr txBox="1"/>
          <p:nvPr/>
        </p:nvSpPr>
        <p:spPr>
          <a:xfrm>
            <a:off x="2697480" y="373075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xUnit · coverlet · CA1502</a:t>
            </a:r>
            <a:endParaRPr lang="en-US" sz="1000" dirty="0"/>
          </a:p>
        </p:txBody>
      </p:sp>
      <p:sp>
        <p:nvSpPr>
          <p:cNvPr id="44" name="Shape 36"/>
          <p:cNvSpPr/>
          <p:nvPr/>
        </p:nvSpPr>
        <p:spPr>
          <a:xfrm>
            <a:off x="2697480" y="3959352"/>
            <a:ext cx="1188720" cy="201168"/>
          </a:xfrm>
          <a:prstGeom prst="roundRect">
            <a:avLst>
              <a:gd name="adj" fmla="val 50000"/>
            </a:avLst>
          </a:prstGeom>
          <a:solidFill>
            <a:srgbClr val="FDF3DC"/>
          </a:solidFill>
          <a:ln w="12700">
            <a:solidFill>
              <a:srgbClr val="FDF3DC"/>
            </a:solidFill>
            <a:prstDash val="solid"/>
          </a:ln>
        </p:spPr>
      </p:sp>
      <p:sp>
        <p:nvSpPr>
          <p:cNvPr id="45" name="Text 37"/>
          <p:cNvSpPr txBox="1"/>
          <p:nvPr/>
        </p:nvSpPr>
        <p:spPr>
          <a:xfrm>
            <a:off x="2697480" y="3959352"/>
            <a:ext cx="1188720" cy="201168"/>
          </a:xfrm>
          <a:prstGeom prst="rect">
            <a:avLst/>
          </a:prstGeom>
          <a:noFill/>
          <a:ln/>
        </p:spPr>
        <p:txBody>
          <a:bodyPr wrap="square" lIns="0" tIns="0" rIns="0" bIns="0"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Compiled only*</a:t>
            </a:r>
            <a:endParaRPr lang="en-US" sz="950" dirty="0"/>
          </a:p>
        </p:txBody>
      </p:sp>
      <p:sp>
        <p:nvSpPr>
          <p:cNvPr id="46" name="Shape 38"/>
          <p:cNvSpPr/>
          <p:nvPr/>
        </p:nvSpPr>
        <p:spPr>
          <a:xfrm>
            <a:off x="4663440" y="2880360"/>
            <a:ext cx="1920240" cy="1371600"/>
          </a:xfrm>
          <a:prstGeom prst="roundRect">
            <a:avLst>
              <a:gd name="adj" fmla="val 5333"/>
            </a:avLst>
          </a:prstGeom>
          <a:solidFill>
            <a:srgbClr val="EEF3F5"/>
          </a:solidFill>
          <a:ln w="12700">
            <a:solidFill>
              <a:srgbClr val="EEF3F5"/>
            </a:solidFill>
            <a:prstDash val="solid"/>
          </a:ln>
        </p:spPr>
      </p:sp>
      <p:sp>
        <p:nvSpPr>
          <p:cNvPr id="47" name="Shape 39"/>
          <p:cNvSpPr/>
          <p:nvPr/>
        </p:nvSpPr>
        <p:spPr>
          <a:xfrm>
            <a:off x="4800600" y="3017520"/>
            <a:ext cx="365760" cy="365760"/>
          </a:xfrm>
          <a:prstGeom prst="ellipse">
            <a:avLst/>
          </a:prstGeom>
          <a:solidFill>
            <a:srgbClr val="14232E"/>
          </a:solidFill>
          <a:ln w="12700">
            <a:solidFill>
              <a:srgbClr val="14232E"/>
            </a:solidFill>
            <a:prstDash val="solid"/>
          </a:ln>
        </p:spPr>
      </p:sp>
      <p:pic>
        <p:nvPicPr>
          <p:cNvPr id="48" name="Image 6" descr="preencoded.png">    </p:cNvPr>
          <p:cNvPicPr>
            <a:picLocks noChangeAspect="1"/>
          </p:cNvPicPr>
          <p:nvPr/>
        </p:nvPicPr>
        <p:blipFill>
          <a:blip r:embed="rId7"/>
          <a:stretch>
            <a:fillRect/>
          </a:stretch>
        </p:blipFill>
        <p:spPr>
          <a:xfrm>
            <a:off x="4892040" y="3108960"/>
            <a:ext cx="182880" cy="182880"/>
          </a:xfrm>
          <a:prstGeom prst="rect">
            <a:avLst/>
          </a:prstGeom>
        </p:spPr>
      </p:pic>
      <p:sp>
        <p:nvSpPr>
          <p:cNvPr id="49" name="Text 40"/>
          <p:cNvSpPr txBox="1"/>
          <p:nvPr/>
        </p:nvSpPr>
        <p:spPr>
          <a:xfrm>
            <a:off x="4800600" y="345643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Java 17 · Maven</a:t>
            </a:r>
            <a:endParaRPr lang="en-US" sz="1350" dirty="0"/>
          </a:p>
        </p:txBody>
      </p:sp>
      <p:sp>
        <p:nvSpPr>
          <p:cNvPr id="50" name="Text 41"/>
          <p:cNvSpPr txBox="1"/>
          <p:nvPr/>
        </p:nvSpPr>
        <p:spPr>
          <a:xfrm>
            <a:off x="4800600" y="373075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JUnit 5 · JaCoCo · Checkstyle</a:t>
            </a:r>
            <a:endParaRPr lang="en-US" sz="1000" dirty="0"/>
          </a:p>
        </p:txBody>
      </p:sp>
      <p:sp>
        <p:nvSpPr>
          <p:cNvPr id="51" name="Shape 42"/>
          <p:cNvSpPr/>
          <p:nvPr/>
        </p:nvSpPr>
        <p:spPr>
          <a:xfrm>
            <a:off x="4800600" y="3959352"/>
            <a:ext cx="1188720" cy="201168"/>
          </a:xfrm>
          <a:prstGeom prst="roundRect">
            <a:avLst>
              <a:gd name="adj" fmla="val 50000"/>
            </a:avLst>
          </a:prstGeom>
          <a:solidFill>
            <a:srgbClr val="FDF3DC"/>
          </a:solidFill>
          <a:ln w="12700">
            <a:solidFill>
              <a:srgbClr val="FDF3DC"/>
            </a:solidFill>
            <a:prstDash val="solid"/>
          </a:ln>
        </p:spPr>
      </p:sp>
      <p:sp>
        <p:nvSpPr>
          <p:cNvPr id="52" name="Text 43"/>
          <p:cNvSpPr txBox="1"/>
          <p:nvPr/>
        </p:nvSpPr>
        <p:spPr>
          <a:xfrm>
            <a:off x="4800600" y="3959352"/>
            <a:ext cx="1188720" cy="201168"/>
          </a:xfrm>
          <a:prstGeom prst="rect">
            <a:avLst/>
          </a:prstGeom>
          <a:noFill/>
          <a:ln/>
        </p:spPr>
        <p:txBody>
          <a:bodyPr wrap="square" lIns="0" tIns="0" rIns="0" bIns="0"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Compiled only*</a:t>
            </a:r>
            <a:endParaRPr lang="en-US" sz="950" dirty="0"/>
          </a:p>
        </p:txBody>
      </p:sp>
      <p:sp>
        <p:nvSpPr>
          <p:cNvPr id="53" name="Shape 44"/>
          <p:cNvSpPr/>
          <p:nvPr/>
        </p:nvSpPr>
        <p:spPr>
          <a:xfrm>
            <a:off x="6766560" y="2880360"/>
            <a:ext cx="1920240" cy="1371600"/>
          </a:xfrm>
          <a:prstGeom prst="roundRect">
            <a:avLst>
              <a:gd name="adj" fmla="val 5333"/>
            </a:avLst>
          </a:prstGeom>
          <a:solidFill>
            <a:srgbClr val="EEF3F5"/>
          </a:solidFill>
          <a:ln w="12700">
            <a:solidFill>
              <a:srgbClr val="EEF3F5"/>
            </a:solidFill>
            <a:prstDash val="solid"/>
          </a:ln>
        </p:spPr>
      </p:sp>
      <p:sp>
        <p:nvSpPr>
          <p:cNvPr id="54" name="Shape 45"/>
          <p:cNvSpPr/>
          <p:nvPr/>
        </p:nvSpPr>
        <p:spPr>
          <a:xfrm>
            <a:off x="6903720" y="3017520"/>
            <a:ext cx="365760" cy="365760"/>
          </a:xfrm>
          <a:prstGeom prst="ellipse">
            <a:avLst/>
          </a:prstGeom>
          <a:solidFill>
            <a:srgbClr val="14232E"/>
          </a:solidFill>
          <a:ln w="12700">
            <a:solidFill>
              <a:srgbClr val="14232E"/>
            </a:solidFill>
            <a:prstDash val="solid"/>
          </a:ln>
        </p:spPr>
      </p:sp>
      <p:pic>
        <p:nvPicPr>
          <p:cNvPr id="55" name="Image 7" descr="preencoded.png">    </p:cNvPr>
          <p:cNvPicPr>
            <a:picLocks noChangeAspect="1"/>
          </p:cNvPicPr>
          <p:nvPr/>
        </p:nvPicPr>
        <p:blipFill>
          <a:blip r:embed="rId8"/>
          <a:stretch>
            <a:fillRect/>
          </a:stretch>
        </p:blipFill>
        <p:spPr>
          <a:xfrm>
            <a:off x="6995160" y="3108960"/>
            <a:ext cx="182880" cy="182880"/>
          </a:xfrm>
          <a:prstGeom prst="rect">
            <a:avLst/>
          </a:prstGeom>
        </p:spPr>
      </p:pic>
      <p:sp>
        <p:nvSpPr>
          <p:cNvPr id="56" name="Text 46"/>
          <p:cNvSpPr txBox="1"/>
          <p:nvPr/>
        </p:nvSpPr>
        <p:spPr>
          <a:xfrm>
            <a:off x="6903720" y="3456432"/>
            <a:ext cx="1645920" cy="274320"/>
          </a:xfrm>
          <a:prstGeom prst="rect">
            <a:avLst/>
          </a:prstGeom>
          <a:noFill/>
          <a:ln/>
        </p:spPr>
        <p:txBody>
          <a:bodyPr wrap="square" lIns="0" tIns="0" rIns="0" bIns="0" rtlCol="0" anchor="t"/>
          <a:lstStyle/>
          <a:p>
            <a:pPr indent="0" marL="0">
              <a:buNone/>
            </a:pPr>
            <a:r>
              <a:rPr lang="en-US" sz="1350" b="1" dirty="0">
                <a:solidFill>
                  <a:srgbClr val="1F2D38"/>
                </a:solidFill>
                <a:latin typeface="Calibri" pitchFamily="34" charset="0"/>
                <a:ea typeface="Calibri" pitchFamily="34" charset="-122"/>
                <a:cs typeface="Calibri" pitchFamily="34" charset="-120"/>
              </a:rPr>
              <a:t>Java 21 · Gradle</a:t>
            </a:r>
            <a:endParaRPr lang="en-US" sz="1350" dirty="0"/>
          </a:p>
        </p:txBody>
      </p:sp>
      <p:sp>
        <p:nvSpPr>
          <p:cNvPr id="57" name="Text 47"/>
          <p:cNvSpPr txBox="1"/>
          <p:nvPr/>
        </p:nvSpPr>
        <p:spPr>
          <a:xfrm>
            <a:off x="6903720" y="3730752"/>
            <a:ext cx="1645920" cy="228600"/>
          </a:xfrm>
          <a:prstGeom prst="rect">
            <a:avLst/>
          </a:prstGeom>
          <a:noFill/>
          <a:ln/>
        </p:spPr>
        <p:txBody>
          <a:bodyPr wrap="square" lIns="0" tIns="0" rIns="0" bIns="0" rtlCol="0" anchor="t"/>
          <a:lstStyle/>
          <a:p>
            <a:pPr indent="0" marL="0">
              <a:buNone/>
            </a:pPr>
            <a:r>
              <a:rPr lang="en-US" sz="1000" dirty="0">
                <a:solidFill>
                  <a:srgbClr val="5B6B77"/>
                </a:solidFill>
                <a:latin typeface="Calibri" pitchFamily="34" charset="0"/>
                <a:ea typeface="Calibri" pitchFamily="34" charset="-122"/>
                <a:cs typeface="Calibri" pitchFamily="34" charset="-120"/>
              </a:rPr>
              <a:t>JUnit 5 · JaCoCo · Checkstyle</a:t>
            </a:r>
            <a:endParaRPr lang="en-US" sz="1000" dirty="0"/>
          </a:p>
        </p:txBody>
      </p:sp>
      <p:sp>
        <p:nvSpPr>
          <p:cNvPr id="58" name="Shape 48"/>
          <p:cNvSpPr/>
          <p:nvPr/>
        </p:nvSpPr>
        <p:spPr>
          <a:xfrm>
            <a:off x="6903720" y="3959352"/>
            <a:ext cx="1188720" cy="201168"/>
          </a:xfrm>
          <a:prstGeom prst="roundRect">
            <a:avLst>
              <a:gd name="adj" fmla="val 50000"/>
            </a:avLst>
          </a:prstGeom>
          <a:solidFill>
            <a:srgbClr val="FDF3DC"/>
          </a:solidFill>
          <a:ln w="12700">
            <a:solidFill>
              <a:srgbClr val="FDF3DC"/>
            </a:solidFill>
            <a:prstDash val="solid"/>
          </a:ln>
        </p:spPr>
      </p:sp>
      <p:sp>
        <p:nvSpPr>
          <p:cNvPr id="59" name="Text 49"/>
          <p:cNvSpPr txBox="1"/>
          <p:nvPr/>
        </p:nvSpPr>
        <p:spPr>
          <a:xfrm>
            <a:off x="6903720" y="3959352"/>
            <a:ext cx="1188720" cy="201168"/>
          </a:xfrm>
          <a:prstGeom prst="rect">
            <a:avLst/>
          </a:prstGeom>
          <a:noFill/>
          <a:ln/>
        </p:spPr>
        <p:txBody>
          <a:bodyPr wrap="square" lIns="0" tIns="0" rIns="0" bIns="0"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Compiled only*</a:t>
            </a:r>
            <a:endParaRPr lang="en-US" sz="950" dirty="0"/>
          </a:p>
        </p:txBody>
      </p:sp>
      <p:sp>
        <p:nvSpPr>
          <p:cNvPr id="60" name="Text 50"/>
          <p:cNvSpPr txBox="1"/>
          <p:nvPr/>
        </p:nvSpPr>
        <p:spPr>
          <a:xfrm>
            <a:off x="457200" y="4434840"/>
            <a:ext cx="8229600" cy="457200"/>
          </a:xfrm>
          <a:prstGeom prst="rect">
            <a:avLst/>
          </a:prstGeom>
          <a:noFill/>
          <a:ln/>
        </p:spPr>
        <p:txBody>
          <a:bodyPr wrap="square" lIns="0" tIns="0" rIns="0" bIns="0" rtlCol="0" anchor="t"/>
          <a:lstStyle/>
          <a:p>
            <a:pPr indent="0" marL="0">
              <a:buNone/>
            </a:pPr>
            <a:r>
              <a:rPr lang="en-US" sz="1100" i="1" dirty="0">
                <a:solidFill>
                  <a:srgbClr val="5B6B77"/>
                </a:solidFill>
                <a:latin typeface="Calibri" pitchFamily="34" charset="0"/>
                <a:ea typeface="Calibri" pitchFamily="34" charset="-122"/>
                <a:cs typeface="Calibri" pitchFamily="34" charset="-120"/>
              </a:rPr>
              <a:t>Same 5 make targets, same 2 report formats, same checks. The JDK/.NET version is just the build image.</a:t>
            </a:r>
            <a:endParaRPr lang="en-US" sz="1100" dirty="0"/>
          </a:p>
          <a:p>
            <a:pPr indent="0" marL="0">
              <a:buNone/>
            </a:pPr>
            <a:r>
              <a:rPr lang="en-US" sz="1100" i="1" dirty="0">
                <a:solidFill>
                  <a:srgbClr val="5B6B77"/>
                </a:solidFill>
                <a:latin typeface="Calibri" pitchFamily="34" charset="0"/>
                <a:ea typeface="Calibri" pitchFamily="34" charset="-122"/>
                <a:cs typeface="Calibri" pitchFamily="34" charset="-120"/>
              </a:rPr>
              <a:t>* Code builds and its logic was verified; the full test run needs our Maven/NuGet mirror (blocked in the test environment).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Why we check 80% on new code, not overall</a:t>
            </a:r>
            <a:endParaRPr lang="en-US" sz="2800" dirty="0"/>
          </a:p>
        </p:txBody>
      </p:sp>
      <p:sp>
        <p:nvSpPr>
          <p:cNvPr id="3" name="Text 1"/>
          <p:cNvSpPr txBox="1"/>
          <p:nvPr/>
        </p:nvSpPr>
        <p:spPr>
          <a:xfrm>
            <a:off x="457200" y="960120"/>
            <a:ext cx="8229600" cy="320040"/>
          </a:xfrm>
          <a:prstGeom prst="rect">
            <a:avLst/>
          </a:prstGeom>
          <a:noFill/>
          <a:ln/>
        </p:spPr>
        <p:txBody>
          <a:bodyPr wrap="square" lIns="0" tIns="0" rIns="0" bIns="0" rtlCol="0" anchor="t"/>
          <a:lstStyle/>
          <a:p>
            <a:pPr indent="0" marL="0">
              <a:buNone/>
            </a:pPr>
            <a:r>
              <a:rPr lang="en-US" sz="1400" dirty="0">
                <a:solidFill>
                  <a:srgbClr val="5B6B77"/>
                </a:solidFill>
                <a:latin typeface="Calibri" pitchFamily="34" charset="0"/>
                <a:ea typeface="Calibri" pitchFamily="34" charset="-122"/>
                <a:cs typeface="Calibri" pitchFamily="34" charset="-120"/>
              </a:rPr>
              <a:t>Tested: new rule, no tests. Python shown; Go, TypeScript and Angular were blocked the same way.</a:t>
            </a:r>
            <a:endParaRPr lang="en-US" sz="1400" dirty="0"/>
          </a:p>
        </p:txBody>
      </p:sp>
      <p:sp>
        <p:nvSpPr>
          <p:cNvPr id="4" name="Shape 2"/>
          <p:cNvSpPr/>
          <p:nvPr/>
        </p:nvSpPr>
        <p:spPr>
          <a:xfrm>
            <a:off x="457200" y="1463040"/>
            <a:ext cx="2560320" cy="1920240"/>
          </a:xfrm>
          <a:prstGeom prst="roundRect">
            <a:avLst>
              <a:gd name="adj" fmla="val 3810"/>
            </a:avLst>
          </a:prstGeom>
          <a:solidFill>
            <a:srgbClr val="EEF3F5"/>
          </a:solidFill>
          <a:ln w="12700">
            <a:solidFill>
              <a:srgbClr val="EEF3F5"/>
            </a:solidFill>
            <a:prstDash val="solid"/>
          </a:ln>
        </p:spPr>
      </p:sp>
      <p:sp>
        <p:nvSpPr>
          <p:cNvPr id="5" name="Text 3"/>
          <p:cNvSpPr txBox="1"/>
          <p:nvPr/>
        </p:nvSpPr>
        <p:spPr>
          <a:xfrm>
            <a:off x="685800" y="1572768"/>
            <a:ext cx="2194560" cy="777240"/>
          </a:xfrm>
          <a:prstGeom prst="rect">
            <a:avLst/>
          </a:prstGeom>
          <a:noFill/>
          <a:ln/>
        </p:spPr>
        <p:txBody>
          <a:bodyPr wrap="square" lIns="0" tIns="0" rIns="0" bIns="0" rtlCol="0" anchor="t"/>
          <a:lstStyle/>
          <a:p>
            <a:pPr indent="0" marL="0">
              <a:buNone/>
            </a:pPr>
            <a:r>
              <a:rPr lang="en-US" sz="4400" b="1" dirty="0">
                <a:solidFill>
                  <a:srgbClr val="5B6B77"/>
                </a:solidFill>
                <a:latin typeface="Cambria" pitchFamily="34" charset="0"/>
                <a:ea typeface="Cambria" pitchFamily="34" charset="-122"/>
                <a:cs typeface="Cambria" pitchFamily="34" charset="-120"/>
              </a:rPr>
              <a:t>87.8%</a:t>
            </a:r>
            <a:endParaRPr lang="en-US" sz="4400" dirty="0"/>
          </a:p>
        </p:txBody>
      </p:sp>
      <p:sp>
        <p:nvSpPr>
          <p:cNvPr id="6" name="Text 4"/>
          <p:cNvSpPr txBox="1"/>
          <p:nvPr/>
        </p:nvSpPr>
        <p:spPr>
          <a:xfrm>
            <a:off x="685800" y="2377440"/>
            <a:ext cx="219456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Overall coverage</a:t>
            </a:r>
            <a:endParaRPr lang="en-US" sz="1400" dirty="0"/>
          </a:p>
        </p:txBody>
      </p:sp>
      <p:sp>
        <p:nvSpPr>
          <p:cNvPr id="7" name="Text 5"/>
          <p:cNvSpPr txBox="1"/>
          <p:nvPr/>
        </p:nvSpPr>
        <p:spPr>
          <a:xfrm>
            <a:off x="685800" y="2715768"/>
            <a:ext cx="2194560" cy="59436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Would PASS an "80% overall" rule. Old tested code hides the gap.</a:t>
            </a:r>
            <a:endParaRPr lang="en-US" sz="1200" dirty="0"/>
          </a:p>
        </p:txBody>
      </p:sp>
      <p:sp>
        <p:nvSpPr>
          <p:cNvPr id="8" name="Shape 6"/>
          <p:cNvSpPr/>
          <p:nvPr/>
        </p:nvSpPr>
        <p:spPr>
          <a:xfrm>
            <a:off x="3291840" y="1463040"/>
            <a:ext cx="2560320" cy="1920240"/>
          </a:xfrm>
          <a:prstGeom prst="roundRect">
            <a:avLst>
              <a:gd name="adj" fmla="val 3810"/>
            </a:avLst>
          </a:prstGeom>
          <a:solidFill>
            <a:srgbClr val="FBE9E7"/>
          </a:solidFill>
          <a:ln w="12700">
            <a:solidFill>
              <a:srgbClr val="FBE9E7"/>
            </a:solidFill>
            <a:prstDash val="solid"/>
          </a:ln>
        </p:spPr>
      </p:sp>
      <p:sp>
        <p:nvSpPr>
          <p:cNvPr id="9" name="Text 7"/>
          <p:cNvSpPr txBox="1"/>
          <p:nvPr/>
        </p:nvSpPr>
        <p:spPr>
          <a:xfrm>
            <a:off x="3520440" y="1572768"/>
            <a:ext cx="2194560" cy="777240"/>
          </a:xfrm>
          <a:prstGeom prst="rect">
            <a:avLst/>
          </a:prstGeom>
          <a:noFill/>
          <a:ln/>
        </p:spPr>
        <p:txBody>
          <a:bodyPr wrap="square" lIns="0" tIns="0" rIns="0" bIns="0" rtlCol="0" anchor="t"/>
          <a:lstStyle/>
          <a:p>
            <a:pPr indent="0" marL="0">
              <a:buNone/>
            </a:pPr>
            <a:r>
              <a:rPr lang="en-US" sz="4400" b="1" dirty="0">
                <a:solidFill>
                  <a:srgbClr val="D9483B"/>
                </a:solidFill>
                <a:latin typeface="Cambria" pitchFamily="34" charset="0"/>
                <a:ea typeface="Cambria" pitchFamily="34" charset="-122"/>
                <a:cs typeface="Cambria" pitchFamily="34" charset="-120"/>
              </a:rPr>
              <a:t>37%</a:t>
            </a:r>
            <a:endParaRPr lang="en-US" sz="4400" dirty="0"/>
          </a:p>
        </p:txBody>
      </p:sp>
      <p:sp>
        <p:nvSpPr>
          <p:cNvPr id="10" name="Text 8"/>
          <p:cNvSpPr txBox="1"/>
          <p:nvPr/>
        </p:nvSpPr>
        <p:spPr>
          <a:xfrm>
            <a:off x="3520440" y="2377440"/>
            <a:ext cx="219456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Coverage of the new lines</a:t>
            </a:r>
            <a:endParaRPr lang="en-US" sz="1400" dirty="0"/>
          </a:p>
        </p:txBody>
      </p:sp>
      <p:sp>
        <p:nvSpPr>
          <p:cNvPr id="11" name="Text 9"/>
          <p:cNvSpPr txBox="1"/>
          <p:nvPr/>
        </p:nvSpPr>
        <p:spPr>
          <a:xfrm>
            <a:off x="3520440" y="2715768"/>
            <a:ext cx="2194560" cy="59436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BLOCKED by the new-code check.</a:t>
            </a:r>
            <a:endParaRPr lang="en-US" sz="1200" dirty="0"/>
          </a:p>
        </p:txBody>
      </p:sp>
      <p:sp>
        <p:nvSpPr>
          <p:cNvPr id="12" name="Shape 10"/>
          <p:cNvSpPr/>
          <p:nvPr/>
        </p:nvSpPr>
        <p:spPr>
          <a:xfrm>
            <a:off x="6126480" y="1463040"/>
            <a:ext cx="2560320" cy="1920240"/>
          </a:xfrm>
          <a:prstGeom prst="roundRect">
            <a:avLst>
              <a:gd name="adj" fmla="val 3810"/>
            </a:avLst>
          </a:prstGeom>
          <a:solidFill>
            <a:srgbClr val="E4F5EC"/>
          </a:solidFill>
          <a:ln w="12700">
            <a:solidFill>
              <a:srgbClr val="E4F5EC"/>
            </a:solidFill>
            <a:prstDash val="solid"/>
          </a:ln>
        </p:spPr>
      </p:sp>
      <p:sp>
        <p:nvSpPr>
          <p:cNvPr id="13" name="Text 11"/>
          <p:cNvSpPr txBox="1"/>
          <p:nvPr/>
        </p:nvSpPr>
        <p:spPr>
          <a:xfrm>
            <a:off x="6355080" y="1572768"/>
            <a:ext cx="2194560" cy="777240"/>
          </a:xfrm>
          <a:prstGeom prst="rect">
            <a:avLst/>
          </a:prstGeom>
          <a:noFill/>
          <a:ln/>
        </p:spPr>
        <p:txBody>
          <a:bodyPr wrap="square" lIns="0" tIns="0" rIns="0" bIns="0" rtlCol="0" anchor="t"/>
          <a:lstStyle/>
          <a:p>
            <a:pPr indent="0" marL="0">
              <a:buNone/>
            </a:pPr>
            <a:r>
              <a:rPr lang="en-US" sz="4400" b="1" dirty="0">
                <a:solidFill>
                  <a:srgbClr val="1FA971"/>
                </a:solidFill>
                <a:latin typeface="Cambria" pitchFamily="34" charset="0"/>
                <a:ea typeface="Cambria" pitchFamily="34" charset="-122"/>
                <a:cs typeface="Cambria" pitchFamily="34" charset="-120"/>
              </a:rPr>
              <a:t>100%</a:t>
            </a:r>
            <a:endParaRPr lang="en-US" sz="4400" dirty="0"/>
          </a:p>
        </p:txBody>
      </p:sp>
      <p:sp>
        <p:nvSpPr>
          <p:cNvPr id="14" name="Text 12"/>
          <p:cNvSpPr txBox="1"/>
          <p:nvPr/>
        </p:nvSpPr>
        <p:spPr>
          <a:xfrm>
            <a:off x="6355080" y="2377440"/>
            <a:ext cx="219456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After adding one test</a:t>
            </a:r>
            <a:endParaRPr lang="en-US" sz="1400" dirty="0"/>
          </a:p>
        </p:txBody>
      </p:sp>
      <p:sp>
        <p:nvSpPr>
          <p:cNvPr id="15" name="Text 13"/>
          <p:cNvSpPr txBox="1"/>
          <p:nvPr/>
        </p:nvSpPr>
        <p:spPr>
          <a:xfrm>
            <a:off x="6355080" y="2715768"/>
            <a:ext cx="2194560" cy="59436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Check passes, merge allowed.</a:t>
            </a:r>
            <a:endParaRPr lang="en-US" sz="1200" dirty="0"/>
          </a:p>
        </p:txBody>
      </p:sp>
      <p:sp>
        <p:nvSpPr>
          <p:cNvPr id="16" name="Shape 14"/>
          <p:cNvSpPr/>
          <p:nvPr/>
        </p:nvSpPr>
        <p:spPr>
          <a:xfrm>
            <a:off x="457200" y="3703320"/>
            <a:ext cx="457200" cy="457200"/>
          </a:xfrm>
          <a:prstGeom prst="ellipse">
            <a:avLst/>
          </a:prstGeom>
          <a:solidFill>
            <a:srgbClr val="14232E"/>
          </a:solidFill>
          <a:ln w="12700">
            <a:solidFill>
              <a:srgbClr val="14232E"/>
            </a:solidFill>
            <a:prstDash val="solid"/>
          </a:ln>
        </p:spPr>
      </p:sp>
      <p:pic>
        <p:nvPicPr>
          <p:cNvPr id="17" name="Image 0" descr="preencoded.png">    </p:cNvPr>
          <p:cNvPicPr>
            <a:picLocks noChangeAspect="1"/>
          </p:cNvPicPr>
          <p:nvPr/>
        </p:nvPicPr>
        <p:blipFill>
          <a:blip r:embed="rId1"/>
          <a:stretch>
            <a:fillRect/>
          </a:stretch>
        </p:blipFill>
        <p:spPr>
          <a:xfrm>
            <a:off x="571500" y="3817620"/>
            <a:ext cx="228600" cy="228600"/>
          </a:xfrm>
          <a:prstGeom prst="rect">
            <a:avLst/>
          </a:prstGeom>
        </p:spPr>
      </p:pic>
      <p:sp>
        <p:nvSpPr>
          <p:cNvPr id="18" name="Text 15"/>
          <p:cNvSpPr txBox="1"/>
          <p:nvPr/>
        </p:nvSpPr>
        <p:spPr>
          <a:xfrm>
            <a:off x="1051560" y="3675888"/>
            <a:ext cx="2103120" cy="274320"/>
          </a:xfrm>
          <a:prstGeom prst="rect">
            <a:avLst/>
          </a:prstGeom>
          <a:noFill/>
          <a:ln/>
        </p:spPr>
        <p:txBody>
          <a:bodyPr wrap="square" lIns="0" tIns="0" rIns="0" bIns="0" rtlCol="0" anchor="t"/>
          <a:lstStyle/>
          <a:p>
            <a:pPr indent="0" marL="0">
              <a:buNone/>
            </a:pPr>
            <a:r>
              <a:rPr lang="en-US" sz="1300" b="1" dirty="0">
                <a:solidFill>
                  <a:srgbClr val="1F2D38"/>
                </a:solidFill>
                <a:latin typeface="Calibri" pitchFamily="34" charset="0"/>
                <a:ea typeface="Calibri" pitchFamily="34" charset="-122"/>
                <a:cs typeface="Calibri" pitchFamily="34" charset="-120"/>
              </a:rPr>
              <a:t>Legacy code isn't blocked</a:t>
            </a:r>
            <a:endParaRPr lang="en-US" sz="1300" dirty="0"/>
          </a:p>
        </p:txBody>
      </p:sp>
      <p:sp>
        <p:nvSpPr>
          <p:cNvPr id="19" name="Text 16"/>
          <p:cNvSpPr txBox="1"/>
          <p:nvPr/>
        </p:nvSpPr>
        <p:spPr>
          <a:xfrm>
            <a:off x="1051560" y="3959352"/>
            <a:ext cx="2103120" cy="45720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Teams at 20% today can still ship</a:t>
            </a:r>
            <a:endParaRPr lang="en-US" sz="1150" dirty="0"/>
          </a:p>
        </p:txBody>
      </p:sp>
      <p:sp>
        <p:nvSpPr>
          <p:cNvPr id="20" name="Shape 17"/>
          <p:cNvSpPr/>
          <p:nvPr/>
        </p:nvSpPr>
        <p:spPr>
          <a:xfrm>
            <a:off x="3291840" y="3703320"/>
            <a:ext cx="457200" cy="457200"/>
          </a:xfrm>
          <a:prstGeom prst="ellipse">
            <a:avLst/>
          </a:prstGeom>
          <a:solidFill>
            <a:srgbClr val="14232E"/>
          </a:solidFill>
          <a:ln w="12700">
            <a:solidFill>
              <a:srgbClr val="14232E"/>
            </a:solidFill>
            <a:prstDash val="solid"/>
          </a:ln>
        </p:spPr>
      </p:sp>
      <p:pic>
        <p:nvPicPr>
          <p:cNvPr id="21" name="Image 1" descr="preencoded.png">    </p:cNvPr>
          <p:cNvPicPr>
            <a:picLocks noChangeAspect="1"/>
          </p:cNvPicPr>
          <p:nvPr/>
        </p:nvPicPr>
        <p:blipFill>
          <a:blip r:embed="rId2"/>
          <a:stretch>
            <a:fillRect/>
          </a:stretch>
        </p:blipFill>
        <p:spPr>
          <a:xfrm>
            <a:off x="3406140" y="3817620"/>
            <a:ext cx="228600" cy="228600"/>
          </a:xfrm>
          <a:prstGeom prst="rect">
            <a:avLst/>
          </a:prstGeom>
        </p:spPr>
      </p:pic>
      <p:sp>
        <p:nvSpPr>
          <p:cNvPr id="22" name="Text 18"/>
          <p:cNvSpPr txBox="1"/>
          <p:nvPr/>
        </p:nvSpPr>
        <p:spPr>
          <a:xfrm>
            <a:off x="3886200" y="3675888"/>
            <a:ext cx="2103120" cy="274320"/>
          </a:xfrm>
          <a:prstGeom prst="rect">
            <a:avLst/>
          </a:prstGeom>
          <a:noFill/>
          <a:ln/>
        </p:spPr>
        <p:txBody>
          <a:bodyPr wrap="square" lIns="0" tIns="0" rIns="0" bIns="0" rtlCol="0" anchor="t"/>
          <a:lstStyle/>
          <a:p>
            <a:pPr indent="0" marL="0">
              <a:buNone/>
            </a:pPr>
            <a:r>
              <a:rPr lang="en-US" sz="1300" b="1" dirty="0">
                <a:solidFill>
                  <a:srgbClr val="1F2D38"/>
                </a:solidFill>
                <a:latin typeface="Calibri" pitchFamily="34" charset="0"/>
                <a:ea typeface="Calibri" pitchFamily="34" charset="-122"/>
                <a:cs typeface="Calibri" pitchFamily="34" charset="-120"/>
              </a:rPr>
              <a:t>Coverage only goes up</a:t>
            </a:r>
            <a:endParaRPr lang="en-US" sz="1300" dirty="0"/>
          </a:p>
        </p:txBody>
      </p:sp>
      <p:sp>
        <p:nvSpPr>
          <p:cNvPr id="23" name="Text 19"/>
          <p:cNvSpPr txBox="1"/>
          <p:nvPr/>
        </p:nvSpPr>
        <p:spPr>
          <a:xfrm>
            <a:off x="3886200" y="3959352"/>
            <a:ext cx="2103120" cy="45720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Every change adds tested code</a:t>
            </a:r>
            <a:endParaRPr lang="en-US" sz="1150" dirty="0"/>
          </a:p>
        </p:txBody>
      </p:sp>
      <p:sp>
        <p:nvSpPr>
          <p:cNvPr id="24" name="Shape 20"/>
          <p:cNvSpPr/>
          <p:nvPr/>
        </p:nvSpPr>
        <p:spPr>
          <a:xfrm>
            <a:off x="6126480" y="3703320"/>
            <a:ext cx="457200" cy="457200"/>
          </a:xfrm>
          <a:prstGeom prst="ellipse">
            <a:avLst/>
          </a:prstGeom>
          <a:solidFill>
            <a:srgbClr val="14232E"/>
          </a:solidFill>
          <a:ln w="12700">
            <a:solidFill>
              <a:srgbClr val="14232E"/>
            </a:solidFill>
            <a:prstDash val="solid"/>
          </a:ln>
        </p:spPr>
      </p:sp>
      <p:pic>
        <p:nvPicPr>
          <p:cNvPr id="25" name="Image 2" descr="preencoded.png">    </p:cNvPr>
          <p:cNvPicPr>
            <a:picLocks noChangeAspect="1"/>
          </p:cNvPicPr>
          <p:nvPr/>
        </p:nvPicPr>
        <p:blipFill>
          <a:blip r:embed="rId3"/>
          <a:stretch>
            <a:fillRect/>
          </a:stretch>
        </p:blipFill>
        <p:spPr>
          <a:xfrm>
            <a:off x="6240780" y="3817620"/>
            <a:ext cx="228600" cy="228600"/>
          </a:xfrm>
          <a:prstGeom prst="rect">
            <a:avLst/>
          </a:prstGeom>
        </p:spPr>
      </p:pic>
      <p:sp>
        <p:nvSpPr>
          <p:cNvPr id="26" name="Text 21"/>
          <p:cNvSpPr txBox="1"/>
          <p:nvPr/>
        </p:nvSpPr>
        <p:spPr>
          <a:xfrm>
            <a:off x="6720840" y="3675888"/>
            <a:ext cx="2103120" cy="274320"/>
          </a:xfrm>
          <a:prstGeom prst="rect">
            <a:avLst/>
          </a:prstGeom>
          <a:noFill/>
          <a:ln/>
        </p:spPr>
        <p:txBody>
          <a:bodyPr wrap="square" lIns="0" tIns="0" rIns="0" bIns="0" rtlCol="0" anchor="t"/>
          <a:lstStyle/>
          <a:p>
            <a:pPr indent="0" marL="0">
              <a:buNone/>
            </a:pPr>
            <a:r>
              <a:rPr lang="en-US" sz="1300" b="1" dirty="0">
                <a:solidFill>
                  <a:srgbClr val="1F2D38"/>
                </a:solidFill>
                <a:latin typeface="Calibri" pitchFamily="34" charset="0"/>
                <a:ea typeface="Calibri" pitchFamily="34" charset="-122"/>
                <a:cs typeface="Calibri" pitchFamily="34" charset="-120"/>
              </a:rPr>
              <a:t>Fake tests caught</a:t>
            </a:r>
            <a:endParaRPr lang="en-US" sz="1300" dirty="0"/>
          </a:p>
        </p:txBody>
      </p:sp>
      <p:sp>
        <p:nvSpPr>
          <p:cNvPr id="27" name="Text 22"/>
          <p:cNvSpPr txBox="1"/>
          <p:nvPr/>
        </p:nvSpPr>
        <p:spPr>
          <a:xfrm>
            <a:off x="6720840" y="3959352"/>
            <a:ext cx="2103120" cy="45720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Zero-test check, mutation tests, human review</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Every repo is covered, with no opt-outs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120640" cy="914400"/>
        </p:xfrm>
        <a:graphic>
          <a:graphicData uri="http://schemas.openxmlformats.org/drawingml/2006/table">
            <a:tbl>
              <a:tblPr/>
              <a:tblGrid>
                <a:gridCol w="2560320"/>
                <a:gridCol w="1280160"/>
                <a:gridCol w="128016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14232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Code repos</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14232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YAML / shell / IaC</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14232E"/>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Secret scanning</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Shell + YAML lint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IaC security scan</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MR title + work item</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Auto version tag</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Makefile contract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5B6B7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Unit tests</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5B6B7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FFFFFF"/>
                    </a:solidFill>
                  </a:tcPr>
                </a:tc>
              </a:tr>
              <a:tr h="347472">
                <a:tc>
                  <a:txBody>
                    <a:bodyPr/>
                    <a:lstStyle/>
                    <a:p>
                      <a:pPr algn="l" indent="0" marL="0">
                        <a:buNone/>
                      </a:pPr>
                      <a:r>
                        <a:rPr lang="en-US" sz="1300" dirty="0">
                          <a:solidFill>
                            <a:srgbClr val="1F2D38"/>
                          </a:solidFill>
                          <a:latin typeface="Calibri" pitchFamily="34" charset="0"/>
                          <a:ea typeface="Calibri" pitchFamily="34" charset="-122"/>
                          <a:cs typeface="Calibri" pitchFamily="34" charset="-120"/>
                        </a:rPr>
                        <a:t>≥ 80% new-code coverage</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1FA97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c>
                  <a:txBody>
                    <a:bodyPr/>
                    <a:lstStyle/>
                    <a:p>
                      <a:pPr algn="ctr" indent="0" marL="0">
                        <a:buNone/>
                      </a:pPr>
                      <a:r>
                        <a:rPr lang="en-US" sz="1300" b="1" dirty="0">
                          <a:solidFill>
                            <a:srgbClr val="5B6B7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3D9"/>
                      </a:solidFill>
                      <a:prstDash val="solid"/>
                      <a:round/>
                      <a:headEnd type="none" w="med" len="med"/>
                      <a:tailEnd type="none" w="med" len="med"/>
                    </a:lnL>
                    <a:lnR w="6350" cap="flat" cmpd="sng" algn="ctr">
                      <a:solidFill>
                        <a:srgbClr val="C9D3D9"/>
                      </a:solidFill>
                      <a:prstDash val="solid"/>
                      <a:round/>
                      <a:headEnd type="none" w="med" len="med"/>
                      <a:tailEnd type="none" w="med" len="med"/>
                    </a:lnR>
                    <a:lnT w="6350" cap="flat" cmpd="sng" algn="ctr">
                      <a:solidFill>
                        <a:srgbClr val="C9D3D9"/>
                      </a:solidFill>
                      <a:prstDash val="solid"/>
                      <a:round/>
                      <a:headEnd type="none" w="med" len="med"/>
                      <a:tailEnd type="none" w="med" len="med"/>
                    </a:lnT>
                    <a:lnB w="6350" cap="flat" cmpd="sng" algn="ctr">
                      <a:solidFill>
                        <a:srgbClr val="C9D3D9"/>
                      </a:solidFill>
                      <a:prstDash val="solid"/>
                      <a:round/>
                      <a:headEnd type="none" w="med" len="med"/>
                      <a:tailEnd type="none" w="med" len="med"/>
                    </a:lnB>
                    <a:solidFill>
                      <a:srgbClr val="EEF3F5"/>
                    </a:solidFill>
                  </a:tcPr>
                </a:tc>
              </a:tr>
            </a:tbl>
          </a:graphicData>
        </a:graphic>
      </p:graphicFrame>
      <p:sp>
        <p:nvSpPr>
          <p:cNvPr id="4" name="Shape 1"/>
          <p:cNvSpPr/>
          <p:nvPr/>
        </p:nvSpPr>
        <p:spPr>
          <a:xfrm>
            <a:off x="5943600" y="1188720"/>
            <a:ext cx="2743200" cy="3127248"/>
          </a:xfrm>
          <a:prstGeom prst="roundRect">
            <a:avLst>
              <a:gd name="adj" fmla="val 2667"/>
            </a:avLst>
          </a:prstGeom>
          <a:solidFill>
            <a:srgbClr val="14232E"/>
          </a:solidFill>
          <a:ln w="12700">
            <a:solidFill>
              <a:srgbClr val="14232E"/>
            </a:solidFill>
            <a:prstDash val="solid"/>
          </a:ln>
        </p:spPr>
      </p:sp>
      <p:sp>
        <p:nvSpPr>
          <p:cNvPr id="5" name="Shape 2"/>
          <p:cNvSpPr/>
          <p:nvPr/>
        </p:nvSpPr>
        <p:spPr>
          <a:xfrm>
            <a:off x="6172200" y="1417320"/>
            <a:ext cx="548640" cy="548640"/>
          </a:xfrm>
          <a:prstGeom prst="ellipse">
            <a:avLst/>
          </a:prstGeom>
          <a:solidFill>
            <a:srgbClr val="1FA971"/>
          </a:solidFill>
          <a:ln w="12700">
            <a:solidFill>
              <a:srgbClr val="1FA971"/>
            </a:solidFill>
            <a:prstDash val="solid"/>
          </a:ln>
        </p:spPr>
      </p:sp>
      <p:pic>
        <p:nvPicPr>
          <p:cNvPr id="6" name="Image 0" descr="preencoded.png">    </p:cNvPr>
          <p:cNvPicPr>
            <a:picLocks noChangeAspect="1"/>
          </p:cNvPicPr>
          <p:nvPr/>
        </p:nvPicPr>
        <p:blipFill>
          <a:blip r:embed="rId1"/>
          <a:stretch>
            <a:fillRect/>
          </a:stretch>
        </p:blipFill>
        <p:spPr>
          <a:xfrm>
            <a:off x="6309360" y="1554480"/>
            <a:ext cx="274320" cy="274320"/>
          </a:xfrm>
          <a:prstGeom prst="rect">
            <a:avLst/>
          </a:prstGeom>
        </p:spPr>
      </p:pic>
      <p:sp>
        <p:nvSpPr>
          <p:cNvPr id="7" name="Text 3"/>
          <p:cNvSpPr txBox="1"/>
          <p:nvPr/>
        </p:nvSpPr>
        <p:spPr>
          <a:xfrm>
            <a:off x="6172200" y="2103120"/>
            <a:ext cx="2331720" cy="64008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Detected from files, not a label</a:t>
            </a:r>
            <a:endParaRPr lang="en-US" sz="1600" dirty="0"/>
          </a:p>
        </p:txBody>
      </p:sp>
      <p:sp>
        <p:nvSpPr>
          <p:cNvPr id="8" name="Text 4"/>
          <p:cNvSpPr txBox="1"/>
          <p:nvPr/>
        </p:nvSpPr>
        <p:spPr>
          <a:xfrm>
            <a:off x="6172200" y="2788920"/>
            <a:ext cx="2331720" cy="1371600"/>
          </a:xfrm>
          <a:prstGeom prst="rect">
            <a:avLst/>
          </a:prstGeom>
          <a:noFill/>
          <a:ln/>
        </p:spPr>
        <p:txBody>
          <a:bodyPr wrap="square" lIns="0" tIns="0" rIns="0" bIns="0" rtlCol="0" anchor="t"/>
          <a:lstStyle/>
          <a:p>
            <a:pPr indent="0" marL="0">
              <a:buNone/>
            </a:pPr>
            <a:r>
              <a:rPr lang="en-US" sz="1250" dirty="0">
                <a:solidFill>
                  <a:srgbClr val="B8C7D0"/>
                </a:solidFill>
                <a:latin typeface="Calibri" pitchFamily="34" charset="0"/>
                <a:ea typeface="Calibri" pitchFamily="34" charset="-122"/>
                <a:cs typeface="Calibri" pitchFamily="34" charset="-120"/>
              </a:rPr>
              <a:t>No build files means no unit-test jobs. A code repo that labels itself "iac" to skip tests fails the pipeline.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AI speeds delivery; automated checks keep it safe</a:t>
            </a:r>
            <a:endParaRPr lang="en-US" sz="2800" dirty="0"/>
          </a:p>
        </p:txBody>
      </p:sp>
      <p:sp>
        <p:nvSpPr>
          <p:cNvPr id="3" name="Text 1"/>
          <p:cNvSpPr txBox="1"/>
          <p:nvPr/>
        </p:nvSpPr>
        <p:spPr>
          <a:xfrm>
            <a:off x="2286000" y="1097280"/>
            <a:ext cx="3017520" cy="274320"/>
          </a:xfrm>
          <a:prstGeom prst="rect">
            <a:avLst/>
          </a:prstGeom>
          <a:noFill/>
          <a:ln/>
        </p:spPr>
        <p:txBody>
          <a:bodyPr wrap="square" lIns="0" tIns="0" rIns="0" bIns="0" rtlCol="0" anchor="t"/>
          <a:lstStyle/>
          <a:p>
            <a:pPr indent="0" marL="0">
              <a:buNone/>
            </a:pPr>
            <a:r>
              <a:rPr lang="en-US" sz="1100" b="1" spc="200" kern="0" dirty="0">
                <a:solidFill>
                  <a:srgbClr val="5B6B77"/>
                </a:solidFill>
                <a:latin typeface="Calibri" pitchFamily="34" charset="0"/>
                <a:ea typeface="Calibri" pitchFamily="34" charset="-122"/>
                <a:cs typeface="Calibri" pitchFamily="34" charset="-120"/>
              </a:rPr>
              <a:t>AI HELPS</a:t>
            </a:r>
            <a:endParaRPr lang="en-US" sz="1100" dirty="0"/>
          </a:p>
        </p:txBody>
      </p:sp>
      <p:sp>
        <p:nvSpPr>
          <p:cNvPr id="4" name="Text 2"/>
          <p:cNvSpPr txBox="1"/>
          <p:nvPr/>
        </p:nvSpPr>
        <p:spPr>
          <a:xfrm>
            <a:off x="5303520" y="1097280"/>
            <a:ext cx="3383280" cy="274320"/>
          </a:xfrm>
          <a:prstGeom prst="rect">
            <a:avLst/>
          </a:prstGeom>
          <a:noFill/>
          <a:ln/>
        </p:spPr>
        <p:txBody>
          <a:bodyPr wrap="square" lIns="0" tIns="0" rIns="0" bIns="0" rtlCol="0" anchor="t"/>
          <a:lstStyle/>
          <a:p>
            <a:pPr indent="0" marL="0">
              <a:buNone/>
            </a:pPr>
            <a:r>
              <a:rPr lang="en-US" sz="1100" b="1" spc="200" kern="0" dirty="0">
                <a:solidFill>
                  <a:srgbClr val="5B6B77"/>
                </a:solidFill>
                <a:latin typeface="Calibri" pitchFamily="34" charset="0"/>
                <a:ea typeface="Calibri" pitchFamily="34" charset="-122"/>
                <a:cs typeface="Calibri" pitchFamily="34" charset="-120"/>
              </a:rPr>
              <a:t>CONTROL THAT DOESN'T DEPEND ON AI</a:t>
            </a:r>
            <a:endParaRPr lang="en-US" sz="1100" dirty="0"/>
          </a:p>
        </p:txBody>
      </p:sp>
      <p:sp>
        <p:nvSpPr>
          <p:cNvPr id="5" name="Shape 3"/>
          <p:cNvSpPr/>
          <p:nvPr/>
        </p:nvSpPr>
        <p:spPr>
          <a:xfrm>
            <a:off x="457200" y="1417320"/>
            <a:ext cx="8229600" cy="548640"/>
          </a:xfrm>
          <a:prstGeom prst="roundRect">
            <a:avLst>
              <a:gd name="adj" fmla="val 10000"/>
            </a:avLst>
          </a:prstGeom>
          <a:solidFill>
            <a:srgbClr val="EEF3F5"/>
          </a:solidFill>
          <a:ln w="12700">
            <a:solidFill>
              <a:srgbClr val="EEF3F5"/>
            </a:solidFill>
            <a:prstDash val="solid"/>
          </a:ln>
        </p:spPr>
      </p:sp>
      <p:sp>
        <p:nvSpPr>
          <p:cNvPr id="6" name="Shape 4"/>
          <p:cNvSpPr/>
          <p:nvPr/>
        </p:nvSpPr>
        <p:spPr>
          <a:xfrm>
            <a:off x="566928" y="1490472"/>
            <a:ext cx="402336" cy="402336"/>
          </a:xfrm>
          <a:prstGeom prst="ellipse">
            <a:avLst/>
          </a:prstGeom>
          <a:solidFill>
            <a:srgbClr val="14232E"/>
          </a:solidFill>
          <a:ln w="12700">
            <a:solidFill>
              <a:srgbClr val="14232E"/>
            </a:solidFill>
            <a:prstDash val="solid"/>
          </a:ln>
        </p:spPr>
      </p:sp>
      <p:pic>
        <p:nvPicPr>
          <p:cNvPr id="7" name="Image 0" descr="preencoded.png">    </p:cNvPr>
          <p:cNvPicPr>
            <a:picLocks noChangeAspect="1"/>
          </p:cNvPicPr>
          <p:nvPr/>
        </p:nvPicPr>
        <p:blipFill>
          <a:blip r:embed="rId1"/>
          <a:stretch>
            <a:fillRect/>
          </a:stretch>
        </p:blipFill>
        <p:spPr>
          <a:xfrm>
            <a:off x="667512" y="1591056"/>
            <a:ext cx="201168" cy="201168"/>
          </a:xfrm>
          <a:prstGeom prst="rect">
            <a:avLst/>
          </a:prstGeom>
        </p:spPr>
      </p:pic>
      <p:sp>
        <p:nvSpPr>
          <p:cNvPr id="8" name="Text 5"/>
          <p:cNvSpPr txBox="1"/>
          <p:nvPr/>
        </p:nvSpPr>
        <p:spPr>
          <a:xfrm>
            <a:off x="1097280" y="1417320"/>
            <a:ext cx="1143000" cy="548640"/>
          </a:xfrm>
          <a:prstGeom prst="rect">
            <a:avLst/>
          </a:prstGeom>
          <a:noFill/>
          <a:ln/>
        </p:spPr>
        <p:txBody>
          <a:bodyPr wrap="square" lIns="0" tIns="0" rIns="0" bIns="0" rtlCol="0" anchor="ctr"/>
          <a:lstStyle/>
          <a:p>
            <a:pPr indent="0" marL="0">
              <a:buNone/>
            </a:pPr>
            <a:r>
              <a:rPr lang="en-US" sz="1300" b="1" dirty="0">
                <a:solidFill>
                  <a:srgbClr val="1F2D38"/>
                </a:solidFill>
                <a:latin typeface="Calibri" pitchFamily="34" charset="0"/>
                <a:ea typeface="Calibri" pitchFamily="34" charset="-122"/>
                <a:cs typeface="Calibri" pitchFamily="34" charset="-120"/>
              </a:rPr>
              <a:t>Write code</a:t>
            </a:r>
            <a:endParaRPr lang="en-US" sz="1300" dirty="0"/>
          </a:p>
        </p:txBody>
      </p:sp>
      <p:sp>
        <p:nvSpPr>
          <p:cNvPr id="9" name="Text 6"/>
          <p:cNvSpPr txBox="1"/>
          <p:nvPr/>
        </p:nvSpPr>
        <p:spPr>
          <a:xfrm>
            <a:off x="2286000" y="1417320"/>
            <a:ext cx="2926080" cy="548640"/>
          </a:xfrm>
          <a:prstGeom prst="rect">
            <a:avLst/>
          </a:prstGeom>
          <a:noFill/>
          <a:ln/>
        </p:spPr>
        <p:txBody>
          <a:bodyPr wrap="square" lIns="0" tIns="0" rIns="0" bIns="0" rtlCol="0" anchor="ctr"/>
          <a:lstStyle/>
          <a:p>
            <a:pPr indent="0" marL="0">
              <a:buNone/>
            </a:pPr>
            <a:r>
              <a:rPr lang="en-US" sz="1250" dirty="0">
                <a:solidFill>
                  <a:srgbClr val="1F2D38"/>
                </a:solidFill>
                <a:latin typeface="Calibri" pitchFamily="34" charset="0"/>
                <a:ea typeface="Calibri" pitchFamily="34" charset="-122"/>
                <a:cs typeface="Calibri" pitchFamily="34" charset="-120"/>
              </a:rPr>
              <a:t>Follows standards in AGENTS.md</a:t>
            </a:r>
            <a:endParaRPr lang="en-US" sz="1250" dirty="0"/>
          </a:p>
        </p:txBody>
      </p:sp>
      <p:sp>
        <p:nvSpPr>
          <p:cNvPr id="10" name="Text 7"/>
          <p:cNvSpPr txBox="1"/>
          <p:nvPr/>
        </p:nvSpPr>
        <p:spPr>
          <a:xfrm>
            <a:off x="5303520" y="1417320"/>
            <a:ext cx="3291840" cy="548640"/>
          </a:xfrm>
          <a:prstGeom prst="rect">
            <a:avLst/>
          </a:prstGeom>
          <a:noFill/>
          <a:ln/>
        </p:spPr>
        <p:txBody>
          <a:bodyPr wrap="square" lIns="0" tIns="0" rIns="0" bIns="0" rtlCol="0" anchor="ctr"/>
          <a:lstStyle/>
          <a:p>
            <a:pPr indent="0" marL="0">
              <a:buNone/>
            </a:pPr>
            <a:r>
              <a:rPr lang="en-US" sz="1250" b="1" dirty="0">
                <a:solidFill>
                  <a:srgbClr val="1FA971"/>
                </a:solidFill>
                <a:latin typeface="Calibri" pitchFamily="34" charset="0"/>
                <a:ea typeface="Calibri" pitchFamily="34" charset="-122"/>
                <a:cs typeface="Calibri" pitchFamily="34" charset="-120"/>
              </a:rPr>
              <a:t>make lint, complexity limits</a:t>
            </a:r>
            <a:endParaRPr lang="en-US" sz="1250" dirty="0"/>
          </a:p>
        </p:txBody>
      </p:sp>
      <p:sp>
        <p:nvSpPr>
          <p:cNvPr id="11" name="Shape 8"/>
          <p:cNvSpPr/>
          <p:nvPr/>
        </p:nvSpPr>
        <p:spPr>
          <a:xfrm>
            <a:off x="457200" y="2075688"/>
            <a:ext cx="8229600" cy="548640"/>
          </a:xfrm>
          <a:prstGeom prst="roundRect">
            <a:avLst>
              <a:gd name="adj" fmla="val 10000"/>
            </a:avLst>
          </a:prstGeom>
          <a:solidFill>
            <a:srgbClr val="FFFFFF"/>
          </a:solidFill>
          <a:ln w="12700">
            <a:solidFill>
              <a:srgbClr val="EEF3F5"/>
            </a:solidFill>
            <a:prstDash val="solid"/>
          </a:ln>
        </p:spPr>
      </p:sp>
      <p:sp>
        <p:nvSpPr>
          <p:cNvPr id="12" name="Shape 9"/>
          <p:cNvSpPr/>
          <p:nvPr/>
        </p:nvSpPr>
        <p:spPr>
          <a:xfrm>
            <a:off x="566928" y="2148840"/>
            <a:ext cx="402336" cy="402336"/>
          </a:xfrm>
          <a:prstGeom prst="ellipse">
            <a:avLst/>
          </a:prstGeom>
          <a:solidFill>
            <a:srgbClr val="14232E"/>
          </a:solidFill>
          <a:ln w="12700">
            <a:solidFill>
              <a:srgbClr val="14232E"/>
            </a:solidFill>
            <a:prstDash val="solid"/>
          </a:ln>
        </p:spPr>
      </p:sp>
      <p:pic>
        <p:nvPicPr>
          <p:cNvPr id="13" name="Image 1" descr="preencoded.png">    </p:cNvPr>
          <p:cNvPicPr>
            <a:picLocks noChangeAspect="1"/>
          </p:cNvPicPr>
          <p:nvPr/>
        </p:nvPicPr>
        <p:blipFill>
          <a:blip r:embed="rId2"/>
          <a:stretch>
            <a:fillRect/>
          </a:stretch>
        </p:blipFill>
        <p:spPr>
          <a:xfrm>
            <a:off x="667512" y="2249424"/>
            <a:ext cx="201168" cy="201168"/>
          </a:xfrm>
          <a:prstGeom prst="rect">
            <a:avLst/>
          </a:prstGeom>
        </p:spPr>
      </p:pic>
      <p:sp>
        <p:nvSpPr>
          <p:cNvPr id="14" name="Text 10"/>
          <p:cNvSpPr txBox="1"/>
          <p:nvPr/>
        </p:nvSpPr>
        <p:spPr>
          <a:xfrm>
            <a:off x="1097280" y="2075688"/>
            <a:ext cx="1143000" cy="548640"/>
          </a:xfrm>
          <a:prstGeom prst="rect">
            <a:avLst/>
          </a:prstGeom>
          <a:noFill/>
          <a:ln/>
        </p:spPr>
        <p:txBody>
          <a:bodyPr wrap="square" lIns="0" tIns="0" rIns="0" bIns="0" rtlCol="0" anchor="ctr"/>
          <a:lstStyle/>
          <a:p>
            <a:pPr indent="0" marL="0">
              <a:buNone/>
            </a:pPr>
            <a:r>
              <a:rPr lang="en-US" sz="1300" b="1" dirty="0">
                <a:solidFill>
                  <a:srgbClr val="1F2D38"/>
                </a:solidFill>
                <a:latin typeface="Calibri" pitchFamily="34" charset="0"/>
                <a:ea typeface="Calibri" pitchFamily="34" charset="-122"/>
                <a:cs typeface="Calibri" pitchFamily="34" charset="-120"/>
              </a:rPr>
              <a:t>Write tests</a:t>
            </a:r>
            <a:endParaRPr lang="en-US" sz="1300" dirty="0"/>
          </a:p>
        </p:txBody>
      </p:sp>
      <p:sp>
        <p:nvSpPr>
          <p:cNvPr id="15" name="Text 11"/>
          <p:cNvSpPr txBox="1"/>
          <p:nvPr/>
        </p:nvSpPr>
        <p:spPr>
          <a:xfrm>
            <a:off x="2286000" y="2075688"/>
            <a:ext cx="2926080" cy="548640"/>
          </a:xfrm>
          <a:prstGeom prst="rect">
            <a:avLst/>
          </a:prstGeom>
          <a:noFill/>
          <a:ln/>
        </p:spPr>
        <p:txBody>
          <a:bodyPr wrap="square" lIns="0" tIns="0" rIns="0" bIns="0" rtlCol="0" anchor="ctr"/>
          <a:lstStyle/>
          <a:p>
            <a:pPr indent="0" marL="0">
              <a:buNone/>
            </a:pPr>
            <a:r>
              <a:rPr lang="en-US" sz="1250" dirty="0">
                <a:solidFill>
                  <a:srgbClr val="1F2D38"/>
                </a:solidFill>
                <a:latin typeface="Calibri" pitchFamily="34" charset="0"/>
                <a:ea typeface="Calibri" pitchFamily="34" charset="-122"/>
                <a:cs typeface="Calibri" pitchFamily="34" charset="-120"/>
              </a:rPr>
              <a:t>Generates unit tests for new code</a:t>
            </a:r>
            <a:endParaRPr lang="en-US" sz="1250" dirty="0"/>
          </a:p>
        </p:txBody>
      </p:sp>
      <p:sp>
        <p:nvSpPr>
          <p:cNvPr id="16" name="Text 12"/>
          <p:cNvSpPr txBox="1"/>
          <p:nvPr/>
        </p:nvSpPr>
        <p:spPr>
          <a:xfrm>
            <a:off x="5303520" y="2075688"/>
            <a:ext cx="3291840" cy="548640"/>
          </a:xfrm>
          <a:prstGeom prst="rect">
            <a:avLst/>
          </a:prstGeom>
          <a:noFill/>
          <a:ln/>
        </p:spPr>
        <p:txBody>
          <a:bodyPr wrap="square" lIns="0" tIns="0" rIns="0" bIns="0" rtlCol="0" anchor="ctr"/>
          <a:lstStyle/>
          <a:p>
            <a:pPr indent="0" marL="0">
              <a:buNone/>
            </a:pPr>
            <a:r>
              <a:rPr lang="en-US" sz="1250" b="1" dirty="0">
                <a:solidFill>
                  <a:srgbClr val="1FA971"/>
                </a:solidFill>
                <a:latin typeface="Calibri" pitchFamily="34" charset="0"/>
                <a:ea typeface="Calibri" pitchFamily="34" charset="-122"/>
                <a:cs typeface="Calibri" pitchFamily="34" charset="-120"/>
              </a:rPr>
              <a:t>80% new-code check, mutation tests</a:t>
            </a:r>
            <a:endParaRPr lang="en-US" sz="1250" dirty="0"/>
          </a:p>
        </p:txBody>
      </p:sp>
      <p:sp>
        <p:nvSpPr>
          <p:cNvPr id="17" name="Shape 13"/>
          <p:cNvSpPr/>
          <p:nvPr/>
        </p:nvSpPr>
        <p:spPr>
          <a:xfrm>
            <a:off x="457200" y="2734056"/>
            <a:ext cx="8229600" cy="548640"/>
          </a:xfrm>
          <a:prstGeom prst="roundRect">
            <a:avLst>
              <a:gd name="adj" fmla="val 10000"/>
            </a:avLst>
          </a:prstGeom>
          <a:solidFill>
            <a:srgbClr val="EEF3F5"/>
          </a:solidFill>
          <a:ln w="12700">
            <a:solidFill>
              <a:srgbClr val="EEF3F5"/>
            </a:solidFill>
            <a:prstDash val="solid"/>
          </a:ln>
        </p:spPr>
      </p:sp>
      <p:sp>
        <p:nvSpPr>
          <p:cNvPr id="18" name="Shape 14"/>
          <p:cNvSpPr/>
          <p:nvPr/>
        </p:nvSpPr>
        <p:spPr>
          <a:xfrm>
            <a:off x="566928" y="2807208"/>
            <a:ext cx="402336" cy="402336"/>
          </a:xfrm>
          <a:prstGeom prst="ellipse">
            <a:avLst/>
          </a:prstGeom>
          <a:solidFill>
            <a:srgbClr val="14232E"/>
          </a:solidFill>
          <a:ln w="12700">
            <a:solidFill>
              <a:srgbClr val="14232E"/>
            </a:solidFill>
            <a:prstDash val="solid"/>
          </a:ln>
        </p:spPr>
      </p:sp>
      <p:pic>
        <p:nvPicPr>
          <p:cNvPr id="19" name="Image 2" descr="preencoded.png">    </p:cNvPr>
          <p:cNvPicPr>
            <a:picLocks noChangeAspect="1"/>
          </p:cNvPicPr>
          <p:nvPr/>
        </p:nvPicPr>
        <p:blipFill>
          <a:blip r:embed="rId3"/>
          <a:stretch>
            <a:fillRect/>
          </a:stretch>
        </p:blipFill>
        <p:spPr>
          <a:xfrm>
            <a:off x="667512" y="2907792"/>
            <a:ext cx="201168" cy="201168"/>
          </a:xfrm>
          <a:prstGeom prst="rect">
            <a:avLst/>
          </a:prstGeom>
        </p:spPr>
      </p:pic>
      <p:sp>
        <p:nvSpPr>
          <p:cNvPr id="20" name="Text 15"/>
          <p:cNvSpPr txBox="1"/>
          <p:nvPr/>
        </p:nvSpPr>
        <p:spPr>
          <a:xfrm>
            <a:off x="1097280" y="2734056"/>
            <a:ext cx="1143000" cy="548640"/>
          </a:xfrm>
          <a:prstGeom prst="rect">
            <a:avLst/>
          </a:prstGeom>
          <a:noFill/>
          <a:ln/>
        </p:spPr>
        <p:txBody>
          <a:bodyPr wrap="square" lIns="0" tIns="0" rIns="0" bIns="0" rtlCol="0" anchor="ctr"/>
          <a:lstStyle/>
          <a:p>
            <a:pPr indent="0" marL="0">
              <a:buNone/>
            </a:pPr>
            <a:r>
              <a:rPr lang="en-US" sz="1300" b="1" dirty="0">
                <a:solidFill>
                  <a:srgbClr val="1F2D38"/>
                </a:solidFill>
                <a:latin typeface="Calibri" pitchFamily="34" charset="0"/>
                <a:ea typeface="Calibri" pitchFamily="34" charset="-122"/>
                <a:cs typeface="Calibri" pitchFamily="34" charset="-120"/>
              </a:rPr>
              <a:t>Review</a:t>
            </a:r>
            <a:endParaRPr lang="en-US" sz="1300" dirty="0"/>
          </a:p>
        </p:txBody>
      </p:sp>
      <p:sp>
        <p:nvSpPr>
          <p:cNvPr id="21" name="Text 16"/>
          <p:cNvSpPr txBox="1"/>
          <p:nvPr/>
        </p:nvSpPr>
        <p:spPr>
          <a:xfrm>
            <a:off x="2286000" y="2734056"/>
            <a:ext cx="2926080" cy="548640"/>
          </a:xfrm>
          <a:prstGeom prst="rect">
            <a:avLst/>
          </a:prstGeom>
          <a:noFill/>
          <a:ln/>
        </p:spPr>
        <p:txBody>
          <a:bodyPr wrap="square" lIns="0" tIns="0" rIns="0" bIns="0" rtlCol="0" anchor="ctr"/>
          <a:lstStyle/>
          <a:p>
            <a:pPr indent="0" marL="0">
              <a:buNone/>
            </a:pPr>
            <a:r>
              <a:rPr lang="en-US" sz="1250" dirty="0">
                <a:solidFill>
                  <a:srgbClr val="1F2D38"/>
                </a:solidFill>
                <a:latin typeface="Calibri" pitchFamily="34" charset="0"/>
                <a:ea typeface="Calibri" pitchFamily="34" charset="-122"/>
                <a:cs typeface="Calibri" pitchFamily="34" charset="-120"/>
              </a:rPr>
              <a:t>First-pass review against checklist</a:t>
            </a:r>
            <a:endParaRPr lang="en-US" sz="1250" dirty="0"/>
          </a:p>
        </p:txBody>
      </p:sp>
      <p:sp>
        <p:nvSpPr>
          <p:cNvPr id="22" name="Text 17"/>
          <p:cNvSpPr txBox="1"/>
          <p:nvPr/>
        </p:nvSpPr>
        <p:spPr>
          <a:xfrm>
            <a:off x="5303520" y="2734056"/>
            <a:ext cx="3291840" cy="548640"/>
          </a:xfrm>
          <a:prstGeom prst="rect">
            <a:avLst/>
          </a:prstGeom>
          <a:noFill/>
          <a:ln/>
        </p:spPr>
        <p:txBody>
          <a:bodyPr wrap="square" lIns="0" tIns="0" rIns="0" bIns="0" rtlCol="0" anchor="ctr"/>
          <a:lstStyle/>
          <a:p>
            <a:pPr indent="0" marL="0">
              <a:buNone/>
            </a:pPr>
            <a:r>
              <a:rPr lang="en-US" sz="1250" b="1" dirty="0">
                <a:solidFill>
                  <a:srgbClr val="1FA971"/>
                </a:solidFill>
                <a:latin typeface="Calibri" pitchFamily="34" charset="0"/>
                <a:ea typeface="Calibri" pitchFamily="34" charset="-122"/>
                <a:cs typeface="Calibri" pitchFamily="34" charset="-120"/>
              </a:rPr>
              <a:t>Human code-owner approval</a:t>
            </a:r>
            <a:endParaRPr lang="en-US" sz="1250" dirty="0"/>
          </a:p>
        </p:txBody>
      </p:sp>
      <p:sp>
        <p:nvSpPr>
          <p:cNvPr id="23" name="Shape 18"/>
          <p:cNvSpPr/>
          <p:nvPr/>
        </p:nvSpPr>
        <p:spPr>
          <a:xfrm>
            <a:off x="457200" y="3392424"/>
            <a:ext cx="8229600" cy="548640"/>
          </a:xfrm>
          <a:prstGeom prst="roundRect">
            <a:avLst>
              <a:gd name="adj" fmla="val 10000"/>
            </a:avLst>
          </a:prstGeom>
          <a:solidFill>
            <a:srgbClr val="FFFFFF"/>
          </a:solidFill>
          <a:ln w="12700">
            <a:solidFill>
              <a:srgbClr val="EEF3F5"/>
            </a:solidFill>
            <a:prstDash val="solid"/>
          </a:ln>
        </p:spPr>
      </p:sp>
      <p:sp>
        <p:nvSpPr>
          <p:cNvPr id="24" name="Shape 19"/>
          <p:cNvSpPr/>
          <p:nvPr/>
        </p:nvSpPr>
        <p:spPr>
          <a:xfrm>
            <a:off x="566928" y="3465576"/>
            <a:ext cx="402336" cy="402336"/>
          </a:xfrm>
          <a:prstGeom prst="ellipse">
            <a:avLst/>
          </a:prstGeom>
          <a:solidFill>
            <a:srgbClr val="14232E"/>
          </a:solidFill>
          <a:ln w="12700">
            <a:solidFill>
              <a:srgbClr val="14232E"/>
            </a:solidFill>
            <a:prstDash val="solid"/>
          </a:ln>
        </p:spPr>
      </p:sp>
      <p:pic>
        <p:nvPicPr>
          <p:cNvPr id="25" name="Image 3" descr="preencoded.png">    </p:cNvPr>
          <p:cNvPicPr>
            <a:picLocks noChangeAspect="1"/>
          </p:cNvPicPr>
          <p:nvPr/>
        </p:nvPicPr>
        <p:blipFill>
          <a:blip r:embed="rId4"/>
          <a:stretch>
            <a:fillRect/>
          </a:stretch>
        </p:blipFill>
        <p:spPr>
          <a:xfrm>
            <a:off x="667512" y="3566160"/>
            <a:ext cx="201168" cy="201168"/>
          </a:xfrm>
          <a:prstGeom prst="rect">
            <a:avLst/>
          </a:prstGeom>
        </p:spPr>
      </p:pic>
      <p:sp>
        <p:nvSpPr>
          <p:cNvPr id="26" name="Text 20"/>
          <p:cNvSpPr txBox="1"/>
          <p:nvPr/>
        </p:nvSpPr>
        <p:spPr>
          <a:xfrm>
            <a:off x="1097280" y="3392424"/>
            <a:ext cx="1143000" cy="548640"/>
          </a:xfrm>
          <a:prstGeom prst="rect">
            <a:avLst/>
          </a:prstGeom>
          <a:noFill/>
          <a:ln/>
        </p:spPr>
        <p:txBody>
          <a:bodyPr wrap="square" lIns="0" tIns="0" rIns="0" bIns="0" rtlCol="0" anchor="ctr"/>
          <a:lstStyle/>
          <a:p>
            <a:pPr indent="0" marL="0">
              <a:buNone/>
            </a:pPr>
            <a:r>
              <a:rPr lang="en-US" sz="1300" b="1" dirty="0">
                <a:solidFill>
                  <a:srgbClr val="1F2D38"/>
                </a:solidFill>
                <a:latin typeface="Calibri" pitchFamily="34" charset="0"/>
                <a:ea typeface="Calibri" pitchFamily="34" charset="-122"/>
                <a:cs typeface="Calibri" pitchFamily="34" charset="-120"/>
              </a:rPr>
              <a:t>Dependencies</a:t>
            </a:r>
            <a:endParaRPr lang="en-US" sz="1300" dirty="0"/>
          </a:p>
        </p:txBody>
      </p:sp>
      <p:sp>
        <p:nvSpPr>
          <p:cNvPr id="27" name="Text 21"/>
          <p:cNvSpPr txBox="1"/>
          <p:nvPr/>
        </p:nvSpPr>
        <p:spPr>
          <a:xfrm>
            <a:off x="2286000" y="3392424"/>
            <a:ext cx="2926080" cy="548640"/>
          </a:xfrm>
          <a:prstGeom prst="rect">
            <a:avLst/>
          </a:prstGeom>
          <a:noFill/>
          <a:ln/>
        </p:spPr>
        <p:txBody>
          <a:bodyPr wrap="square" lIns="0" tIns="0" rIns="0" bIns="0" rtlCol="0" anchor="ctr"/>
          <a:lstStyle/>
          <a:p>
            <a:pPr indent="0" marL="0">
              <a:buNone/>
            </a:pPr>
            <a:r>
              <a:rPr lang="en-US" sz="1250" dirty="0">
                <a:solidFill>
                  <a:srgbClr val="1F2D38"/>
                </a:solidFill>
                <a:latin typeface="Calibri" pitchFamily="34" charset="0"/>
                <a:ea typeface="Calibri" pitchFamily="34" charset="-122"/>
                <a:cs typeface="Calibri" pitchFamily="34" charset="-120"/>
              </a:rPr>
              <a:t>Suggests packages</a:t>
            </a:r>
            <a:endParaRPr lang="en-US" sz="1250" dirty="0"/>
          </a:p>
        </p:txBody>
      </p:sp>
      <p:sp>
        <p:nvSpPr>
          <p:cNvPr id="28" name="Text 22"/>
          <p:cNvSpPr txBox="1"/>
          <p:nvPr/>
        </p:nvSpPr>
        <p:spPr>
          <a:xfrm>
            <a:off x="5303520" y="3392424"/>
            <a:ext cx="3291840" cy="548640"/>
          </a:xfrm>
          <a:prstGeom prst="rect">
            <a:avLst/>
          </a:prstGeom>
          <a:noFill/>
          <a:ln/>
        </p:spPr>
        <p:txBody>
          <a:bodyPr wrap="square" lIns="0" tIns="0" rIns="0" bIns="0" rtlCol="0" anchor="ctr"/>
          <a:lstStyle/>
          <a:p>
            <a:pPr indent="0" marL="0">
              <a:buNone/>
            </a:pPr>
            <a:r>
              <a:rPr lang="en-US" sz="1250" b="1" dirty="0">
                <a:solidFill>
                  <a:srgbClr val="1FA971"/>
                </a:solidFill>
                <a:latin typeface="Calibri" pitchFamily="34" charset="0"/>
                <a:ea typeface="Calibri" pitchFamily="34" charset="-122"/>
                <a:cs typeface="Calibri" pitchFamily="34" charset="-120"/>
              </a:rPr>
              <a:t>Internal package proxy + scanning</a:t>
            </a:r>
            <a:endParaRPr lang="en-US" sz="1250" dirty="0"/>
          </a:p>
        </p:txBody>
      </p:sp>
      <p:sp>
        <p:nvSpPr>
          <p:cNvPr id="29" name="Text 23"/>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b="1" i="1" dirty="0">
                <a:solidFill>
                  <a:srgbClr val="1F2D38"/>
                </a:solidFill>
                <a:latin typeface="Calibri" pitchFamily="34" charset="0"/>
                <a:ea typeface="Calibri" pitchFamily="34" charset="-122"/>
                <a:cs typeface="Calibri" pitchFamily="34" charset="-120"/>
              </a:rPr>
              <a:t>AI can suggest and assist. Only automated checks and humans approve a merge.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Mandatory on both platforms</a:t>
            </a:r>
            <a:endParaRPr lang="en-US" sz="2800" dirty="0"/>
          </a:p>
        </p:txBody>
      </p:sp>
      <p:sp>
        <p:nvSpPr>
          <p:cNvPr id="3" name="Shape 1"/>
          <p:cNvSpPr/>
          <p:nvPr/>
        </p:nvSpPr>
        <p:spPr>
          <a:xfrm>
            <a:off x="457200" y="1188720"/>
            <a:ext cx="4023360" cy="502920"/>
          </a:xfrm>
          <a:prstGeom prst="roundRect">
            <a:avLst>
              <a:gd name="adj" fmla="val 10909"/>
            </a:avLst>
          </a:prstGeom>
          <a:solidFill>
            <a:srgbClr val="14232E"/>
          </a:solidFill>
          <a:ln w="12700">
            <a:solidFill>
              <a:srgbClr val="14232E"/>
            </a:solidFill>
            <a:prstDash val="solid"/>
          </a:ln>
        </p:spPr>
      </p:sp>
      <p:sp>
        <p:nvSpPr>
          <p:cNvPr id="4" name="Text 2"/>
          <p:cNvSpPr txBox="1"/>
          <p:nvPr/>
        </p:nvSpPr>
        <p:spPr>
          <a:xfrm>
            <a:off x="685800" y="1188720"/>
            <a:ext cx="356616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GitLab</a:t>
            </a:r>
            <a:endParaRPr lang="en-US" sz="1700" dirty="0"/>
          </a:p>
        </p:txBody>
      </p:sp>
      <p:sp>
        <p:nvSpPr>
          <p:cNvPr id="5" name="Shape 3"/>
          <p:cNvSpPr/>
          <p:nvPr/>
        </p:nvSpPr>
        <p:spPr>
          <a:xfrm>
            <a:off x="457200" y="1828800"/>
            <a:ext cx="4023360" cy="566928"/>
          </a:xfrm>
          <a:prstGeom prst="roundRect">
            <a:avLst>
              <a:gd name="adj" fmla="val 9677"/>
            </a:avLst>
          </a:prstGeom>
          <a:solidFill>
            <a:srgbClr val="EEF3F5"/>
          </a:solidFill>
          <a:ln w="12700">
            <a:solidFill>
              <a:srgbClr val="EEF3F5"/>
            </a:solidFill>
            <a:prstDash val="solid"/>
          </a:ln>
        </p:spPr>
      </p:sp>
      <p:sp>
        <p:nvSpPr>
          <p:cNvPr id="6" name="Text 4"/>
          <p:cNvSpPr txBox="1"/>
          <p:nvPr/>
        </p:nvSpPr>
        <p:spPr>
          <a:xfrm>
            <a:off x="685800" y="1883664"/>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Merge rules</a:t>
            </a:r>
            <a:endParaRPr lang="en-US" sz="1100" dirty="0"/>
          </a:p>
        </p:txBody>
      </p:sp>
      <p:sp>
        <p:nvSpPr>
          <p:cNvPr id="7" name="Text 5"/>
          <p:cNvSpPr txBox="1"/>
          <p:nvPr/>
        </p:nvSpPr>
        <p:spPr>
          <a:xfrm>
            <a:off x="685800" y="2103120"/>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Pipelines must succeed, squash merge</a:t>
            </a:r>
            <a:endParaRPr lang="en-US" sz="1300" dirty="0"/>
          </a:p>
        </p:txBody>
      </p:sp>
      <p:sp>
        <p:nvSpPr>
          <p:cNvPr id="8" name="Shape 6"/>
          <p:cNvSpPr/>
          <p:nvPr/>
        </p:nvSpPr>
        <p:spPr>
          <a:xfrm>
            <a:off x="457200" y="2487168"/>
            <a:ext cx="4023360" cy="566928"/>
          </a:xfrm>
          <a:prstGeom prst="roundRect">
            <a:avLst>
              <a:gd name="adj" fmla="val 9677"/>
            </a:avLst>
          </a:prstGeom>
          <a:solidFill>
            <a:srgbClr val="EEF3F5"/>
          </a:solidFill>
          <a:ln w="12700">
            <a:solidFill>
              <a:srgbClr val="EEF3F5"/>
            </a:solidFill>
            <a:prstDash val="solid"/>
          </a:ln>
        </p:spPr>
      </p:sp>
      <p:sp>
        <p:nvSpPr>
          <p:cNvPr id="9" name="Text 7"/>
          <p:cNvSpPr txBox="1"/>
          <p:nvPr/>
        </p:nvSpPr>
        <p:spPr>
          <a:xfrm>
            <a:off x="685800" y="2542032"/>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Traceability</a:t>
            </a:r>
            <a:endParaRPr lang="en-US" sz="1100" dirty="0"/>
          </a:p>
        </p:txBody>
      </p:sp>
      <p:sp>
        <p:nvSpPr>
          <p:cNvPr id="10" name="Text 8"/>
          <p:cNvSpPr txBox="1"/>
          <p:nvPr/>
        </p:nvSpPr>
        <p:spPr>
          <a:xfrm>
            <a:off x="685800" y="2761488"/>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MR title check with work item ID</a:t>
            </a:r>
            <a:endParaRPr lang="en-US" sz="1300" dirty="0"/>
          </a:p>
        </p:txBody>
      </p:sp>
      <p:sp>
        <p:nvSpPr>
          <p:cNvPr id="11" name="Shape 9"/>
          <p:cNvSpPr/>
          <p:nvPr/>
        </p:nvSpPr>
        <p:spPr>
          <a:xfrm>
            <a:off x="457200" y="3145536"/>
            <a:ext cx="4023360" cy="566928"/>
          </a:xfrm>
          <a:prstGeom prst="roundRect">
            <a:avLst>
              <a:gd name="adj" fmla="val 9677"/>
            </a:avLst>
          </a:prstGeom>
          <a:solidFill>
            <a:srgbClr val="EEF3F5"/>
          </a:solidFill>
          <a:ln w="12700">
            <a:solidFill>
              <a:srgbClr val="EEF3F5"/>
            </a:solidFill>
            <a:prstDash val="solid"/>
          </a:ln>
        </p:spPr>
      </p:sp>
      <p:sp>
        <p:nvSpPr>
          <p:cNvPr id="12" name="Text 10"/>
          <p:cNvSpPr txBox="1"/>
          <p:nvPr/>
        </p:nvSpPr>
        <p:spPr>
          <a:xfrm>
            <a:off x="685800" y="3200400"/>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Can't remove checks</a:t>
            </a:r>
            <a:endParaRPr lang="en-US" sz="1100" dirty="0"/>
          </a:p>
        </p:txBody>
      </p:sp>
      <p:sp>
        <p:nvSpPr>
          <p:cNvPr id="13" name="Text 11"/>
          <p:cNvSpPr txBox="1"/>
          <p:nvPr/>
        </p:nvSpPr>
        <p:spPr>
          <a:xfrm>
            <a:off x="685800" y="3419856"/>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Pipeline execution policy (Ultimate)</a:t>
            </a:r>
            <a:endParaRPr lang="en-US" sz="1300" dirty="0"/>
          </a:p>
        </p:txBody>
      </p:sp>
      <p:sp>
        <p:nvSpPr>
          <p:cNvPr id="14" name="Shape 12"/>
          <p:cNvSpPr/>
          <p:nvPr/>
        </p:nvSpPr>
        <p:spPr>
          <a:xfrm>
            <a:off x="457200" y="3803904"/>
            <a:ext cx="4023360" cy="566928"/>
          </a:xfrm>
          <a:prstGeom prst="roundRect">
            <a:avLst>
              <a:gd name="adj" fmla="val 9677"/>
            </a:avLst>
          </a:prstGeom>
          <a:solidFill>
            <a:srgbClr val="EEF3F5"/>
          </a:solidFill>
          <a:ln w="12700">
            <a:solidFill>
              <a:srgbClr val="EEF3F5"/>
            </a:solidFill>
            <a:prstDash val="solid"/>
          </a:ln>
        </p:spPr>
      </p:sp>
      <p:sp>
        <p:nvSpPr>
          <p:cNvPr id="15" name="Text 13"/>
          <p:cNvSpPr txBox="1"/>
          <p:nvPr/>
        </p:nvSpPr>
        <p:spPr>
          <a:xfrm>
            <a:off x="685800" y="3858768"/>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Deploy</a:t>
            </a:r>
            <a:endParaRPr lang="en-US" sz="1100" dirty="0"/>
          </a:p>
        </p:txBody>
      </p:sp>
      <p:sp>
        <p:nvSpPr>
          <p:cNvPr id="16" name="Text 14"/>
          <p:cNvSpPr txBox="1"/>
          <p:nvPr/>
        </p:nvSpPr>
        <p:spPr>
          <a:xfrm>
            <a:off x="685800" y="4078224"/>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Protected environments</a:t>
            </a:r>
            <a:endParaRPr lang="en-US" sz="1300" dirty="0"/>
          </a:p>
        </p:txBody>
      </p:sp>
      <p:sp>
        <p:nvSpPr>
          <p:cNvPr id="17" name="Shape 15"/>
          <p:cNvSpPr/>
          <p:nvPr/>
        </p:nvSpPr>
        <p:spPr>
          <a:xfrm>
            <a:off x="4663440" y="1188720"/>
            <a:ext cx="4023360" cy="502920"/>
          </a:xfrm>
          <a:prstGeom prst="roundRect">
            <a:avLst>
              <a:gd name="adj" fmla="val 10909"/>
            </a:avLst>
          </a:prstGeom>
          <a:solidFill>
            <a:srgbClr val="14232E"/>
          </a:solidFill>
          <a:ln w="12700">
            <a:solidFill>
              <a:srgbClr val="14232E"/>
            </a:solidFill>
            <a:prstDash val="solid"/>
          </a:ln>
        </p:spPr>
      </p:sp>
      <p:sp>
        <p:nvSpPr>
          <p:cNvPr id="18" name="Text 16"/>
          <p:cNvSpPr txBox="1"/>
          <p:nvPr/>
        </p:nvSpPr>
        <p:spPr>
          <a:xfrm>
            <a:off x="4892040" y="1188720"/>
            <a:ext cx="356616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Azure DevOps</a:t>
            </a:r>
            <a:endParaRPr lang="en-US" sz="1700" dirty="0"/>
          </a:p>
        </p:txBody>
      </p:sp>
      <p:sp>
        <p:nvSpPr>
          <p:cNvPr id="19" name="Shape 17"/>
          <p:cNvSpPr/>
          <p:nvPr/>
        </p:nvSpPr>
        <p:spPr>
          <a:xfrm>
            <a:off x="4663440" y="1828800"/>
            <a:ext cx="4023360" cy="566928"/>
          </a:xfrm>
          <a:prstGeom prst="roundRect">
            <a:avLst>
              <a:gd name="adj" fmla="val 9677"/>
            </a:avLst>
          </a:prstGeom>
          <a:solidFill>
            <a:srgbClr val="EEF3F5"/>
          </a:solidFill>
          <a:ln w="12700">
            <a:solidFill>
              <a:srgbClr val="EEF3F5"/>
            </a:solidFill>
            <a:prstDash val="solid"/>
          </a:ln>
        </p:spPr>
      </p:sp>
      <p:sp>
        <p:nvSpPr>
          <p:cNvPr id="20" name="Text 18"/>
          <p:cNvSpPr txBox="1"/>
          <p:nvPr/>
        </p:nvSpPr>
        <p:spPr>
          <a:xfrm>
            <a:off x="4892040" y="1883664"/>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Merge rules</a:t>
            </a:r>
            <a:endParaRPr lang="en-US" sz="1100" dirty="0"/>
          </a:p>
        </p:txBody>
      </p:sp>
      <p:sp>
        <p:nvSpPr>
          <p:cNvPr id="21" name="Text 19"/>
          <p:cNvSpPr txBox="1"/>
          <p:nvPr/>
        </p:nvSpPr>
        <p:spPr>
          <a:xfrm>
            <a:off x="4892040" y="2103120"/>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Branch policy: PR, squash only, build validation</a:t>
            </a:r>
            <a:endParaRPr lang="en-US" sz="1300" dirty="0"/>
          </a:p>
        </p:txBody>
      </p:sp>
      <p:sp>
        <p:nvSpPr>
          <p:cNvPr id="22" name="Shape 20"/>
          <p:cNvSpPr/>
          <p:nvPr/>
        </p:nvSpPr>
        <p:spPr>
          <a:xfrm>
            <a:off x="4663440" y="2487168"/>
            <a:ext cx="4023360" cy="566928"/>
          </a:xfrm>
          <a:prstGeom prst="roundRect">
            <a:avLst>
              <a:gd name="adj" fmla="val 9677"/>
            </a:avLst>
          </a:prstGeom>
          <a:solidFill>
            <a:srgbClr val="EEF3F5"/>
          </a:solidFill>
          <a:ln w="12700">
            <a:solidFill>
              <a:srgbClr val="EEF3F5"/>
            </a:solidFill>
            <a:prstDash val="solid"/>
          </a:ln>
        </p:spPr>
      </p:sp>
      <p:sp>
        <p:nvSpPr>
          <p:cNvPr id="23" name="Text 21"/>
          <p:cNvSpPr txBox="1"/>
          <p:nvPr/>
        </p:nvSpPr>
        <p:spPr>
          <a:xfrm>
            <a:off x="4892040" y="2542032"/>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Traceability</a:t>
            </a:r>
            <a:endParaRPr lang="en-US" sz="1100" dirty="0"/>
          </a:p>
        </p:txBody>
      </p:sp>
      <p:sp>
        <p:nvSpPr>
          <p:cNvPr id="24" name="Text 22"/>
          <p:cNvSpPr txBox="1"/>
          <p:nvPr/>
        </p:nvSpPr>
        <p:spPr>
          <a:xfrm>
            <a:off x="4892040" y="2761488"/>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"Check for linked work items" policy</a:t>
            </a:r>
            <a:endParaRPr lang="en-US" sz="1300" dirty="0"/>
          </a:p>
        </p:txBody>
      </p:sp>
      <p:sp>
        <p:nvSpPr>
          <p:cNvPr id="25" name="Shape 23"/>
          <p:cNvSpPr/>
          <p:nvPr/>
        </p:nvSpPr>
        <p:spPr>
          <a:xfrm>
            <a:off x="4663440" y="3145536"/>
            <a:ext cx="4023360" cy="566928"/>
          </a:xfrm>
          <a:prstGeom prst="roundRect">
            <a:avLst>
              <a:gd name="adj" fmla="val 9677"/>
            </a:avLst>
          </a:prstGeom>
          <a:solidFill>
            <a:srgbClr val="EEF3F5"/>
          </a:solidFill>
          <a:ln w="12700">
            <a:solidFill>
              <a:srgbClr val="EEF3F5"/>
            </a:solidFill>
            <a:prstDash val="solid"/>
          </a:ln>
        </p:spPr>
      </p:sp>
      <p:sp>
        <p:nvSpPr>
          <p:cNvPr id="26" name="Text 24"/>
          <p:cNvSpPr txBox="1"/>
          <p:nvPr/>
        </p:nvSpPr>
        <p:spPr>
          <a:xfrm>
            <a:off x="4892040" y="3200400"/>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Can't remove checks</a:t>
            </a:r>
            <a:endParaRPr lang="en-US" sz="1100" dirty="0"/>
          </a:p>
        </p:txBody>
      </p:sp>
      <p:sp>
        <p:nvSpPr>
          <p:cNvPr id="27" name="Text 25"/>
          <p:cNvSpPr txBox="1"/>
          <p:nvPr/>
        </p:nvSpPr>
        <p:spPr>
          <a:xfrm>
            <a:off x="4892040" y="3419856"/>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"Required template" check on prod</a:t>
            </a:r>
            <a:endParaRPr lang="en-US" sz="1300" dirty="0"/>
          </a:p>
        </p:txBody>
      </p:sp>
      <p:sp>
        <p:nvSpPr>
          <p:cNvPr id="28" name="Shape 26"/>
          <p:cNvSpPr/>
          <p:nvPr/>
        </p:nvSpPr>
        <p:spPr>
          <a:xfrm>
            <a:off x="4663440" y="3803904"/>
            <a:ext cx="4023360" cy="566928"/>
          </a:xfrm>
          <a:prstGeom prst="roundRect">
            <a:avLst>
              <a:gd name="adj" fmla="val 9677"/>
            </a:avLst>
          </a:prstGeom>
          <a:solidFill>
            <a:srgbClr val="EEF3F5"/>
          </a:solidFill>
          <a:ln w="12700">
            <a:solidFill>
              <a:srgbClr val="EEF3F5"/>
            </a:solidFill>
            <a:prstDash val="solid"/>
          </a:ln>
        </p:spPr>
      </p:sp>
      <p:sp>
        <p:nvSpPr>
          <p:cNvPr id="29" name="Text 27"/>
          <p:cNvSpPr txBox="1"/>
          <p:nvPr/>
        </p:nvSpPr>
        <p:spPr>
          <a:xfrm>
            <a:off x="4892040" y="3858768"/>
            <a:ext cx="3566160" cy="228600"/>
          </a:xfrm>
          <a:prstGeom prst="rect">
            <a:avLst/>
          </a:prstGeom>
          <a:noFill/>
          <a:ln/>
        </p:spPr>
        <p:txBody>
          <a:bodyPr wrap="square" lIns="0" tIns="0" rIns="0" bIns="0" rtlCol="0" anchor="t"/>
          <a:lstStyle/>
          <a:p>
            <a:pPr indent="0" marL="0">
              <a:buNone/>
            </a:pPr>
            <a:r>
              <a:rPr lang="en-US" sz="1100" b="1" dirty="0">
                <a:solidFill>
                  <a:srgbClr val="5B6B77"/>
                </a:solidFill>
                <a:latin typeface="Calibri" pitchFamily="34" charset="0"/>
                <a:ea typeface="Calibri" pitchFamily="34" charset="-122"/>
                <a:cs typeface="Calibri" pitchFamily="34" charset="-120"/>
              </a:rPr>
              <a:t>Deploy</a:t>
            </a:r>
            <a:endParaRPr lang="en-US" sz="1100" dirty="0"/>
          </a:p>
        </p:txBody>
      </p:sp>
      <p:sp>
        <p:nvSpPr>
          <p:cNvPr id="30" name="Text 28"/>
          <p:cNvSpPr txBox="1"/>
          <p:nvPr/>
        </p:nvSpPr>
        <p:spPr>
          <a:xfrm>
            <a:off x="4892040" y="4078224"/>
            <a:ext cx="3566160" cy="274320"/>
          </a:xfrm>
          <a:prstGeom prst="rect">
            <a:avLst/>
          </a:prstGeom>
          <a:noFill/>
          <a:ln/>
        </p:spPr>
        <p:txBody>
          <a:bodyPr wrap="square" lIns="0" tIns="0" rIns="0" bIns="0" rtlCol="0" anchor="t"/>
          <a:lstStyle/>
          <a:p>
            <a:pPr indent="0" marL="0">
              <a:buNone/>
            </a:pPr>
            <a:r>
              <a:rPr lang="en-US" sz="1300" dirty="0">
                <a:solidFill>
                  <a:srgbClr val="1F2D38"/>
                </a:solidFill>
                <a:latin typeface="Calibri" pitchFamily="34" charset="0"/>
                <a:ea typeface="Calibri" pitchFamily="34" charset="-122"/>
                <a:cs typeface="Calibri" pitchFamily="34" charset="-120"/>
              </a:rPr>
              <a:t>Template forces main-only deploys</a:t>
            </a:r>
            <a:endParaRPr lang="en-US" sz="1300" dirty="0"/>
          </a:p>
        </p:txBody>
      </p:sp>
      <p:sp>
        <p:nvSpPr>
          <p:cNvPr id="31" name="Text 29"/>
          <p:cNvSpPr txBox="1"/>
          <p:nvPr/>
        </p:nvSpPr>
        <p:spPr>
          <a:xfrm>
            <a:off x="457200" y="4526280"/>
            <a:ext cx="8229600" cy="320040"/>
          </a:xfrm>
          <a:prstGeom prst="rect">
            <a:avLst/>
          </a:prstGeom>
          <a:noFill/>
          <a:ln/>
        </p:spPr>
        <p:txBody>
          <a:bodyPr wrap="square" lIns="0" tIns="0" rIns="0" bIns="0" rtlCol="0" anchor="t"/>
          <a:lstStyle/>
          <a:p>
            <a:pPr indent="0" marL="0">
              <a:buNone/>
            </a:pPr>
            <a:r>
              <a:rPr lang="en-US" sz="1250" i="1" dirty="0">
                <a:solidFill>
                  <a:srgbClr val="5B6B77"/>
                </a:solidFill>
                <a:latin typeface="Calibri" pitchFamily="34" charset="0"/>
                <a:ea typeface="Calibri" pitchFamily="34" charset="-122"/>
                <a:cs typeface="Calibri" pitchFamily="34" charset="-120"/>
              </a:rPr>
              <a:t>Both: CODEOWNERS means the platform team must approve any change to pipeline files, Makefile or repo.yaml.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Rollout: warn first, then enforce by tier</a:t>
            </a:r>
            <a:endParaRPr lang="en-US" sz="2800" dirty="0"/>
          </a:p>
        </p:txBody>
      </p:sp>
      <p:sp>
        <p:nvSpPr>
          <p:cNvPr id="3" name="Text 1"/>
          <p:cNvSpPr txBox="1"/>
          <p:nvPr/>
        </p:nvSpPr>
        <p:spPr>
          <a:xfrm>
            <a:off x="457200" y="1234440"/>
            <a:ext cx="1554480" cy="274320"/>
          </a:xfrm>
          <a:prstGeom prst="rect">
            <a:avLst/>
          </a:prstGeom>
          <a:noFill/>
          <a:ln/>
        </p:spPr>
        <p:txBody>
          <a:bodyPr wrap="square" lIns="0" tIns="0" rIns="0" bIns="0" rtlCol="0" anchor="t"/>
          <a:lstStyle/>
          <a:p>
            <a:pPr indent="0" marL="0">
              <a:buNone/>
            </a:pPr>
            <a:r>
              <a:rPr lang="en-US" sz="1200" b="1" dirty="0">
                <a:solidFill>
                  <a:srgbClr val="5B6B77"/>
                </a:solidFill>
                <a:latin typeface="Calibri" pitchFamily="34" charset="0"/>
                <a:ea typeface="Calibri" pitchFamily="34" charset="-122"/>
                <a:cs typeface="Calibri" pitchFamily="34" charset="-120"/>
              </a:rPr>
              <a:t>Month 1</a:t>
            </a:r>
            <a:endParaRPr lang="en-US" sz="1200" dirty="0"/>
          </a:p>
        </p:txBody>
      </p:sp>
      <p:sp>
        <p:nvSpPr>
          <p:cNvPr id="4" name="Shape 2"/>
          <p:cNvSpPr/>
          <p:nvPr/>
        </p:nvSpPr>
        <p:spPr>
          <a:xfrm>
            <a:off x="457200" y="1554480"/>
            <a:ext cx="1554480" cy="502920"/>
          </a:xfrm>
          <a:prstGeom prst="rect">
            <a:avLst/>
          </a:prstGeom>
          <a:solidFill>
            <a:srgbClr val="14232E"/>
          </a:solidFill>
          <a:ln w="12700">
            <a:solidFill>
              <a:srgbClr val="14232E"/>
            </a:solidFill>
            <a:prstDash val="solid"/>
          </a:ln>
        </p:spPr>
      </p:sp>
      <p:sp>
        <p:nvSpPr>
          <p:cNvPr id="5" name="Text 3"/>
          <p:cNvSpPr txBox="1"/>
          <p:nvPr/>
        </p:nvSpPr>
        <p:spPr>
          <a:xfrm>
            <a:off x="457200" y="1554480"/>
            <a:ext cx="15544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6" name="Text 4"/>
          <p:cNvSpPr txBox="1"/>
          <p:nvPr/>
        </p:nvSpPr>
        <p:spPr>
          <a:xfrm>
            <a:off x="457200" y="2240280"/>
            <a:ext cx="155448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Build &amp; pilot</a:t>
            </a:r>
            <a:endParaRPr lang="en-US" sz="1400" dirty="0"/>
          </a:p>
        </p:txBody>
      </p:sp>
      <p:sp>
        <p:nvSpPr>
          <p:cNvPr id="7" name="Text 5"/>
          <p:cNvSpPr txBox="1"/>
          <p:nvPr/>
        </p:nvSpPr>
        <p:spPr>
          <a:xfrm>
            <a:off x="457200" y="2578608"/>
            <a:ext cx="1508760" cy="91440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One volunteer team per stack (8 stacks + IaC)</a:t>
            </a:r>
            <a:endParaRPr lang="en-US" sz="1200" dirty="0"/>
          </a:p>
        </p:txBody>
      </p:sp>
      <p:sp>
        <p:nvSpPr>
          <p:cNvPr id="8" name="Text 6"/>
          <p:cNvSpPr txBox="1"/>
          <p:nvPr/>
        </p:nvSpPr>
        <p:spPr>
          <a:xfrm>
            <a:off x="2125980" y="1234440"/>
            <a:ext cx="1554480" cy="274320"/>
          </a:xfrm>
          <a:prstGeom prst="rect">
            <a:avLst/>
          </a:prstGeom>
          <a:noFill/>
          <a:ln/>
        </p:spPr>
        <p:txBody>
          <a:bodyPr wrap="square" lIns="0" tIns="0" rIns="0" bIns="0" rtlCol="0" anchor="t"/>
          <a:lstStyle/>
          <a:p>
            <a:pPr indent="0" marL="0">
              <a:buNone/>
            </a:pPr>
            <a:r>
              <a:rPr lang="en-US" sz="1200" b="1" dirty="0">
                <a:solidFill>
                  <a:srgbClr val="5B6B77"/>
                </a:solidFill>
                <a:latin typeface="Calibri" pitchFamily="34" charset="0"/>
                <a:ea typeface="Calibri" pitchFamily="34" charset="-122"/>
                <a:cs typeface="Calibri" pitchFamily="34" charset="-120"/>
              </a:rPr>
              <a:t>Months 2–3</a:t>
            </a:r>
            <a:endParaRPr lang="en-US" sz="1200" dirty="0"/>
          </a:p>
        </p:txBody>
      </p:sp>
      <p:sp>
        <p:nvSpPr>
          <p:cNvPr id="9" name="Shape 7"/>
          <p:cNvSpPr/>
          <p:nvPr/>
        </p:nvSpPr>
        <p:spPr>
          <a:xfrm>
            <a:off x="2125980" y="1554480"/>
            <a:ext cx="1554480" cy="502920"/>
          </a:xfrm>
          <a:prstGeom prst="chevron">
            <a:avLst/>
          </a:prstGeom>
          <a:solidFill>
            <a:srgbClr val="E3A21A"/>
          </a:solidFill>
          <a:ln w="12700">
            <a:solidFill>
              <a:srgbClr val="E3A21A"/>
            </a:solidFill>
            <a:prstDash val="solid"/>
          </a:ln>
        </p:spPr>
      </p:sp>
      <p:sp>
        <p:nvSpPr>
          <p:cNvPr id="10" name="Text 8"/>
          <p:cNvSpPr txBox="1"/>
          <p:nvPr/>
        </p:nvSpPr>
        <p:spPr>
          <a:xfrm>
            <a:off x="2125980" y="1554480"/>
            <a:ext cx="15544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2125980" y="2240280"/>
            <a:ext cx="155448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Warn mode</a:t>
            </a:r>
            <a:endParaRPr lang="en-US" sz="1400" dirty="0"/>
          </a:p>
        </p:txBody>
      </p:sp>
      <p:sp>
        <p:nvSpPr>
          <p:cNvPr id="12" name="Text 10"/>
          <p:cNvSpPr txBox="1"/>
          <p:nvPr/>
        </p:nvSpPr>
        <p:spPr>
          <a:xfrm>
            <a:off x="2125980" y="2578608"/>
            <a:ext cx="1508760" cy="91440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All active repos report results; nothing blocked</a:t>
            </a:r>
            <a:endParaRPr lang="en-US" sz="1200" dirty="0"/>
          </a:p>
        </p:txBody>
      </p:sp>
      <p:sp>
        <p:nvSpPr>
          <p:cNvPr id="13" name="Text 11"/>
          <p:cNvSpPr txBox="1"/>
          <p:nvPr/>
        </p:nvSpPr>
        <p:spPr>
          <a:xfrm>
            <a:off x="3794760" y="1234440"/>
            <a:ext cx="1554480" cy="274320"/>
          </a:xfrm>
          <a:prstGeom prst="rect">
            <a:avLst/>
          </a:prstGeom>
          <a:noFill/>
          <a:ln/>
        </p:spPr>
        <p:txBody>
          <a:bodyPr wrap="square" lIns="0" tIns="0" rIns="0" bIns="0" rtlCol="0" anchor="t"/>
          <a:lstStyle/>
          <a:p>
            <a:pPr indent="0" marL="0">
              <a:buNone/>
            </a:pPr>
            <a:r>
              <a:rPr lang="en-US" sz="1200" b="1" dirty="0">
                <a:solidFill>
                  <a:srgbClr val="5B6B77"/>
                </a:solidFill>
                <a:latin typeface="Calibri" pitchFamily="34" charset="0"/>
                <a:ea typeface="Calibri" pitchFamily="34" charset="-122"/>
                <a:cs typeface="Calibri" pitchFamily="34" charset="-120"/>
              </a:rPr>
              <a:t>Month 4</a:t>
            </a:r>
            <a:endParaRPr lang="en-US" sz="1200" dirty="0"/>
          </a:p>
        </p:txBody>
      </p:sp>
      <p:sp>
        <p:nvSpPr>
          <p:cNvPr id="14" name="Shape 12"/>
          <p:cNvSpPr/>
          <p:nvPr/>
        </p:nvSpPr>
        <p:spPr>
          <a:xfrm>
            <a:off x="3794760" y="1554480"/>
            <a:ext cx="1554480" cy="502920"/>
          </a:xfrm>
          <a:prstGeom prst="chevron">
            <a:avLst/>
          </a:prstGeom>
          <a:solidFill>
            <a:srgbClr val="1FA971"/>
          </a:solidFill>
          <a:ln w="12700">
            <a:solidFill>
              <a:srgbClr val="1FA971"/>
            </a:solidFill>
            <a:prstDash val="solid"/>
          </a:ln>
        </p:spPr>
      </p:sp>
      <p:sp>
        <p:nvSpPr>
          <p:cNvPr id="15" name="Text 13"/>
          <p:cNvSpPr txBox="1"/>
          <p:nvPr/>
        </p:nvSpPr>
        <p:spPr>
          <a:xfrm>
            <a:off x="3794760" y="1554480"/>
            <a:ext cx="15544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3794760" y="2240280"/>
            <a:ext cx="155448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Enforce tier 1</a:t>
            </a:r>
            <a:endParaRPr lang="en-US" sz="1400" dirty="0"/>
          </a:p>
        </p:txBody>
      </p:sp>
      <p:sp>
        <p:nvSpPr>
          <p:cNvPr id="17" name="Text 15"/>
          <p:cNvSpPr txBox="1"/>
          <p:nvPr/>
        </p:nvSpPr>
        <p:spPr>
          <a:xfrm>
            <a:off x="3794760" y="2578608"/>
            <a:ext cx="1508760" cy="91440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Customer-facing services blocked on failure</a:t>
            </a:r>
            <a:endParaRPr lang="en-US" sz="1200" dirty="0"/>
          </a:p>
        </p:txBody>
      </p:sp>
      <p:sp>
        <p:nvSpPr>
          <p:cNvPr id="18" name="Text 16"/>
          <p:cNvSpPr txBox="1"/>
          <p:nvPr/>
        </p:nvSpPr>
        <p:spPr>
          <a:xfrm>
            <a:off x="5463540" y="1234440"/>
            <a:ext cx="1554480" cy="274320"/>
          </a:xfrm>
          <a:prstGeom prst="rect">
            <a:avLst/>
          </a:prstGeom>
          <a:noFill/>
          <a:ln/>
        </p:spPr>
        <p:txBody>
          <a:bodyPr wrap="square" lIns="0" tIns="0" rIns="0" bIns="0" rtlCol="0" anchor="t"/>
          <a:lstStyle/>
          <a:p>
            <a:pPr indent="0" marL="0">
              <a:buNone/>
            </a:pPr>
            <a:r>
              <a:rPr lang="en-US" sz="1200" b="1" dirty="0">
                <a:solidFill>
                  <a:srgbClr val="5B6B77"/>
                </a:solidFill>
                <a:latin typeface="Calibri" pitchFamily="34" charset="0"/>
                <a:ea typeface="Calibri" pitchFamily="34" charset="-122"/>
                <a:cs typeface="Calibri" pitchFamily="34" charset="-120"/>
              </a:rPr>
              <a:t>Months 5–6</a:t>
            </a:r>
            <a:endParaRPr lang="en-US" sz="1200" dirty="0"/>
          </a:p>
        </p:txBody>
      </p:sp>
      <p:sp>
        <p:nvSpPr>
          <p:cNvPr id="19" name="Shape 17"/>
          <p:cNvSpPr/>
          <p:nvPr/>
        </p:nvSpPr>
        <p:spPr>
          <a:xfrm>
            <a:off x="5463540" y="1554480"/>
            <a:ext cx="1554480" cy="502920"/>
          </a:xfrm>
          <a:prstGeom prst="chevron">
            <a:avLst/>
          </a:prstGeom>
          <a:solidFill>
            <a:srgbClr val="1FA971"/>
          </a:solidFill>
          <a:ln w="12700">
            <a:solidFill>
              <a:srgbClr val="1FA971"/>
            </a:solidFill>
            <a:prstDash val="solid"/>
          </a:ln>
        </p:spPr>
      </p:sp>
      <p:sp>
        <p:nvSpPr>
          <p:cNvPr id="20" name="Text 18"/>
          <p:cNvSpPr txBox="1"/>
          <p:nvPr/>
        </p:nvSpPr>
        <p:spPr>
          <a:xfrm>
            <a:off x="5463540" y="1554480"/>
            <a:ext cx="15544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5463540" y="2240280"/>
            <a:ext cx="155448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Enforce all + lock</a:t>
            </a:r>
            <a:endParaRPr lang="en-US" sz="1400" dirty="0"/>
          </a:p>
        </p:txBody>
      </p:sp>
      <p:sp>
        <p:nvSpPr>
          <p:cNvPr id="22" name="Text 20"/>
          <p:cNvSpPr txBox="1"/>
          <p:nvPr/>
        </p:nvSpPr>
        <p:spPr>
          <a:xfrm>
            <a:off x="5463540" y="2578608"/>
            <a:ext cx="1508760" cy="91440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All tiers; policies make checks mandatory</a:t>
            </a:r>
            <a:endParaRPr lang="en-US" sz="1200" dirty="0"/>
          </a:p>
        </p:txBody>
      </p:sp>
      <p:sp>
        <p:nvSpPr>
          <p:cNvPr id="23" name="Text 21"/>
          <p:cNvSpPr txBox="1"/>
          <p:nvPr/>
        </p:nvSpPr>
        <p:spPr>
          <a:xfrm>
            <a:off x="7132320" y="1234440"/>
            <a:ext cx="1554480" cy="274320"/>
          </a:xfrm>
          <a:prstGeom prst="rect">
            <a:avLst/>
          </a:prstGeom>
          <a:noFill/>
          <a:ln/>
        </p:spPr>
        <p:txBody>
          <a:bodyPr wrap="square" lIns="0" tIns="0" rIns="0" bIns="0" rtlCol="0" anchor="t"/>
          <a:lstStyle/>
          <a:p>
            <a:pPr indent="0" marL="0">
              <a:buNone/>
            </a:pPr>
            <a:r>
              <a:rPr lang="en-US" sz="1200" b="1" dirty="0">
                <a:solidFill>
                  <a:srgbClr val="5B6B77"/>
                </a:solidFill>
                <a:latin typeface="Calibri" pitchFamily="34" charset="0"/>
                <a:ea typeface="Calibri" pitchFamily="34" charset="-122"/>
                <a:cs typeface="Calibri" pitchFamily="34" charset="-120"/>
              </a:rPr>
              <a:t>Quarterly</a:t>
            </a:r>
            <a:endParaRPr lang="en-US" sz="1200" dirty="0"/>
          </a:p>
        </p:txBody>
      </p:sp>
      <p:sp>
        <p:nvSpPr>
          <p:cNvPr id="24" name="Shape 22"/>
          <p:cNvSpPr/>
          <p:nvPr/>
        </p:nvSpPr>
        <p:spPr>
          <a:xfrm>
            <a:off x="7132320" y="1554480"/>
            <a:ext cx="1554480" cy="502920"/>
          </a:xfrm>
          <a:prstGeom prst="chevron">
            <a:avLst/>
          </a:prstGeom>
          <a:solidFill>
            <a:srgbClr val="14232E"/>
          </a:solidFill>
          <a:ln w="12700">
            <a:solidFill>
              <a:srgbClr val="14232E"/>
            </a:solidFill>
            <a:prstDash val="solid"/>
          </a:ln>
        </p:spPr>
      </p:sp>
      <p:sp>
        <p:nvSpPr>
          <p:cNvPr id="25" name="Text 23"/>
          <p:cNvSpPr txBox="1"/>
          <p:nvPr/>
        </p:nvSpPr>
        <p:spPr>
          <a:xfrm>
            <a:off x="7132320" y="1554480"/>
            <a:ext cx="15544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7132320" y="2240280"/>
            <a:ext cx="1554480" cy="320040"/>
          </a:xfrm>
          <a:prstGeom prst="rect">
            <a:avLst/>
          </a:prstGeom>
          <a:noFill/>
          <a:ln/>
        </p:spPr>
        <p:txBody>
          <a:bodyPr wrap="square" lIns="0" tIns="0" rIns="0" bIns="0" rtlCol="0" anchor="t"/>
          <a:lstStyle/>
          <a:p>
            <a:pPr indent="0" marL="0">
              <a:buNone/>
            </a:pPr>
            <a:r>
              <a:rPr lang="en-US" sz="1400" b="1" dirty="0">
                <a:solidFill>
                  <a:srgbClr val="1F2D38"/>
                </a:solidFill>
                <a:latin typeface="Calibri" pitchFamily="34" charset="0"/>
                <a:ea typeface="Calibri" pitchFamily="34" charset="-122"/>
                <a:cs typeface="Calibri" pitchFamily="34" charset="-120"/>
              </a:rPr>
              <a:t>Ratchet</a:t>
            </a:r>
            <a:endParaRPr lang="en-US" sz="1400" dirty="0"/>
          </a:p>
        </p:txBody>
      </p:sp>
      <p:sp>
        <p:nvSpPr>
          <p:cNvPr id="27" name="Text 25"/>
          <p:cNvSpPr txBox="1"/>
          <p:nvPr/>
        </p:nvSpPr>
        <p:spPr>
          <a:xfrm>
            <a:off x="7132320" y="2578608"/>
            <a:ext cx="1508760" cy="91440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Raise overall minimums; add mutation tests</a:t>
            </a:r>
            <a:endParaRPr lang="en-US" sz="1200" dirty="0"/>
          </a:p>
        </p:txBody>
      </p:sp>
      <p:sp>
        <p:nvSpPr>
          <p:cNvPr id="28" name="Shape 26"/>
          <p:cNvSpPr/>
          <p:nvPr/>
        </p:nvSpPr>
        <p:spPr>
          <a:xfrm>
            <a:off x="457200" y="3703320"/>
            <a:ext cx="8229600" cy="868680"/>
          </a:xfrm>
          <a:prstGeom prst="roundRect">
            <a:avLst>
              <a:gd name="adj" fmla="val 8421"/>
            </a:avLst>
          </a:prstGeom>
          <a:solidFill>
            <a:srgbClr val="EEF3F5"/>
          </a:solidFill>
          <a:ln w="12700">
            <a:solidFill>
              <a:srgbClr val="EEF3F5"/>
            </a:solidFill>
            <a:prstDash val="solid"/>
          </a:ln>
        </p:spPr>
      </p:sp>
      <p:sp>
        <p:nvSpPr>
          <p:cNvPr id="29" name="Shape 27"/>
          <p:cNvSpPr/>
          <p:nvPr/>
        </p:nvSpPr>
        <p:spPr>
          <a:xfrm>
            <a:off x="640080" y="3886200"/>
            <a:ext cx="502920" cy="502920"/>
          </a:xfrm>
          <a:prstGeom prst="ellipse">
            <a:avLst/>
          </a:prstGeom>
          <a:solidFill>
            <a:srgbClr val="14232E"/>
          </a:solidFill>
          <a:ln w="12700">
            <a:solidFill>
              <a:srgbClr val="14232E"/>
            </a:solidFill>
            <a:prstDash val="solid"/>
          </a:ln>
        </p:spPr>
      </p:sp>
      <p:pic>
        <p:nvPicPr>
          <p:cNvPr id="30" name="Image 0" descr="preencoded.png">    </p:cNvPr>
          <p:cNvPicPr>
            <a:picLocks noChangeAspect="1"/>
          </p:cNvPicPr>
          <p:nvPr/>
        </p:nvPicPr>
        <p:blipFill>
          <a:blip r:embed="rId1"/>
          <a:stretch>
            <a:fillRect/>
          </a:stretch>
        </p:blipFill>
        <p:spPr>
          <a:xfrm>
            <a:off x="765810" y="4011930"/>
            <a:ext cx="251460" cy="251460"/>
          </a:xfrm>
          <a:prstGeom prst="rect">
            <a:avLst/>
          </a:prstGeom>
        </p:spPr>
      </p:pic>
      <p:sp>
        <p:nvSpPr>
          <p:cNvPr id="31" name="Text 28"/>
          <p:cNvSpPr txBox="1"/>
          <p:nvPr/>
        </p:nvSpPr>
        <p:spPr>
          <a:xfrm>
            <a:off x="1325880" y="3749040"/>
            <a:ext cx="7223760" cy="777240"/>
          </a:xfrm>
          <a:prstGeom prst="rect">
            <a:avLst/>
          </a:prstGeom>
          <a:noFill/>
          <a:ln/>
        </p:spPr>
        <p:txBody>
          <a:bodyPr wrap="square" lIns="0" tIns="0" rIns="0" bIns="0" rtlCol="0" anchor="ctr"/>
          <a:lstStyle/>
          <a:p>
            <a:pPr indent="0" marL="0">
              <a:buNone/>
            </a:pPr>
            <a:r>
              <a:rPr lang="en-US" sz="1300" dirty="0">
                <a:solidFill>
                  <a:srgbClr val="1F2D38"/>
                </a:solidFill>
                <a:latin typeface="Calibri" pitchFamily="34" charset="0"/>
                <a:ea typeface="Calibri" pitchFamily="34" charset="-122"/>
                <a:cs typeface="Calibri" pitchFamily="34" charset="-120"/>
              </a:rPr>
              <a:t>Only repos with commits in the last 90 days are included. Templates are versioned, so a platform change never breaks thousands of repos at once.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1F2D38"/>
                </a:solidFill>
                <a:latin typeface="Cambria" pitchFamily="34" charset="0"/>
                <a:ea typeface="Cambria" pitchFamily="34" charset="-122"/>
                <a:cs typeface="Cambria" pitchFamily="34" charset="-120"/>
              </a:rPr>
              <a:t>How we'll measure success</a:t>
            </a:r>
            <a:endParaRPr lang="en-US" sz="2800" dirty="0"/>
          </a:p>
        </p:txBody>
      </p:sp>
      <p:sp>
        <p:nvSpPr>
          <p:cNvPr id="3" name="Shape 1"/>
          <p:cNvSpPr/>
          <p:nvPr/>
        </p:nvSpPr>
        <p:spPr>
          <a:xfrm>
            <a:off x="457200" y="1325880"/>
            <a:ext cx="1920240" cy="2103120"/>
          </a:xfrm>
          <a:prstGeom prst="roundRect">
            <a:avLst>
              <a:gd name="adj" fmla="val 3810"/>
            </a:avLst>
          </a:prstGeom>
          <a:solidFill>
            <a:srgbClr val="EEF3F5"/>
          </a:solidFill>
          <a:ln w="12700">
            <a:solidFill>
              <a:srgbClr val="EEF3F5"/>
            </a:solidFill>
            <a:prstDash val="solid"/>
          </a:ln>
        </p:spPr>
      </p:sp>
      <p:sp>
        <p:nvSpPr>
          <p:cNvPr id="4" name="Text 2"/>
          <p:cNvSpPr txBox="1"/>
          <p:nvPr/>
        </p:nvSpPr>
        <p:spPr>
          <a:xfrm>
            <a:off x="640080" y="1508760"/>
            <a:ext cx="1645920" cy="822960"/>
          </a:xfrm>
          <a:prstGeom prst="rect">
            <a:avLst/>
          </a:prstGeom>
          <a:noFill/>
          <a:ln/>
        </p:spPr>
        <p:txBody>
          <a:bodyPr wrap="square" lIns="0" tIns="0" rIns="0" bIns="0" rtlCol="0" anchor="t"/>
          <a:lstStyle/>
          <a:p>
            <a:pPr indent="0" marL="0">
              <a:buNone/>
            </a:pPr>
            <a:r>
              <a:rPr lang="en-US" sz="4000" b="1" dirty="0">
                <a:solidFill>
                  <a:srgbClr val="14232E"/>
                </a:solidFill>
                <a:latin typeface="Cambria" pitchFamily="34" charset="0"/>
                <a:ea typeface="Cambria" pitchFamily="34" charset="-122"/>
                <a:cs typeface="Cambria" pitchFamily="34" charset="-120"/>
              </a:rPr>
              <a:t>100%</a:t>
            </a:r>
            <a:endParaRPr lang="en-US" sz="4000" dirty="0"/>
          </a:p>
        </p:txBody>
      </p:sp>
      <p:sp>
        <p:nvSpPr>
          <p:cNvPr id="5" name="Text 3"/>
          <p:cNvSpPr txBox="1"/>
          <p:nvPr/>
        </p:nvSpPr>
        <p:spPr>
          <a:xfrm>
            <a:off x="640080" y="2377440"/>
            <a:ext cx="1600200" cy="548640"/>
          </a:xfrm>
          <a:prstGeom prst="rect">
            <a:avLst/>
          </a:prstGeom>
          <a:noFill/>
          <a:ln/>
        </p:spPr>
        <p:txBody>
          <a:bodyPr wrap="square" lIns="0" tIns="0" rIns="0" bIns="0" rtlCol="0" anchor="t"/>
          <a:lstStyle/>
          <a:p>
            <a:pPr indent="0" marL="0">
              <a:buNone/>
            </a:pPr>
            <a:r>
              <a:rPr lang="en-US" sz="1300" b="1" dirty="0">
                <a:solidFill>
                  <a:srgbClr val="1F2D38"/>
                </a:solidFill>
                <a:latin typeface="Calibri" pitchFamily="34" charset="0"/>
                <a:ea typeface="Calibri" pitchFamily="34" charset="-122"/>
                <a:cs typeface="Calibri" pitchFamily="34" charset="-120"/>
              </a:rPr>
              <a:t>active repos onboarded</a:t>
            </a:r>
            <a:endParaRPr lang="en-US" sz="1300" dirty="0"/>
          </a:p>
        </p:txBody>
      </p:sp>
      <p:sp>
        <p:nvSpPr>
          <p:cNvPr id="6" name="Text 4"/>
          <p:cNvSpPr txBox="1"/>
          <p:nvPr/>
        </p:nvSpPr>
        <p:spPr>
          <a:xfrm>
            <a:off x="640080" y="2944368"/>
            <a:ext cx="1600200" cy="36576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by month 6</a:t>
            </a:r>
            <a:endParaRPr lang="en-US" sz="1150" dirty="0"/>
          </a:p>
        </p:txBody>
      </p:sp>
      <p:sp>
        <p:nvSpPr>
          <p:cNvPr id="7" name="Shape 5"/>
          <p:cNvSpPr/>
          <p:nvPr/>
        </p:nvSpPr>
        <p:spPr>
          <a:xfrm>
            <a:off x="2560320" y="1325880"/>
            <a:ext cx="1920240" cy="2103120"/>
          </a:xfrm>
          <a:prstGeom prst="roundRect">
            <a:avLst>
              <a:gd name="adj" fmla="val 3810"/>
            </a:avLst>
          </a:prstGeom>
          <a:solidFill>
            <a:srgbClr val="EEF3F5"/>
          </a:solidFill>
          <a:ln w="12700">
            <a:solidFill>
              <a:srgbClr val="EEF3F5"/>
            </a:solidFill>
            <a:prstDash val="solid"/>
          </a:ln>
        </p:spPr>
      </p:sp>
      <p:sp>
        <p:nvSpPr>
          <p:cNvPr id="8" name="Text 6"/>
          <p:cNvSpPr txBox="1"/>
          <p:nvPr/>
        </p:nvSpPr>
        <p:spPr>
          <a:xfrm>
            <a:off x="2743200" y="1508760"/>
            <a:ext cx="1645920" cy="822960"/>
          </a:xfrm>
          <a:prstGeom prst="rect">
            <a:avLst/>
          </a:prstGeom>
          <a:noFill/>
          <a:ln/>
        </p:spPr>
        <p:txBody>
          <a:bodyPr wrap="square" lIns="0" tIns="0" rIns="0" bIns="0" rtlCol="0" anchor="t"/>
          <a:lstStyle/>
          <a:p>
            <a:pPr indent="0" marL="0">
              <a:buNone/>
            </a:pPr>
            <a:r>
              <a:rPr lang="en-US" sz="4000" b="1" dirty="0">
                <a:solidFill>
                  <a:srgbClr val="14232E"/>
                </a:solidFill>
                <a:latin typeface="Cambria" pitchFamily="34" charset="0"/>
                <a:ea typeface="Cambria" pitchFamily="34" charset="-122"/>
                <a:cs typeface="Cambria" pitchFamily="34" charset="-120"/>
              </a:rPr>
              <a:t>&gt;98%</a:t>
            </a:r>
            <a:endParaRPr lang="en-US" sz="4000" dirty="0"/>
          </a:p>
        </p:txBody>
      </p:sp>
      <p:sp>
        <p:nvSpPr>
          <p:cNvPr id="9" name="Text 7"/>
          <p:cNvSpPr txBox="1"/>
          <p:nvPr/>
        </p:nvSpPr>
        <p:spPr>
          <a:xfrm>
            <a:off x="2743200" y="2377440"/>
            <a:ext cx="1600200" cy="548640"/>
          </a:xfrm>
          <a:prstGeom prst="rect">
            <a:avLst/>
          </a:prstGeom>
          <a:noFill/>
          <a:ln/>
        </p:spPr>
        <p:txBody>
          <a:bodyPr wrap="square" lIns="0" tIns="0" rIns="0" bIns="0" rtlCol="0" anchor="t"/>
          <a:lstStyle/>
          <a:p>
            <a:pPr indent="0" marL="0">
              <a:buNone/>
            </a:pPr>
            <a:r>
              <a:rPr lang="en-US" sz="1300" b="1" dirty="0">
                <a:solidFill>
                  <a:srgbClr val="1F2D38"/>
                </a:solidFill>
                <a:latin typeface="Calibri" pitchFamily="34" charset="0"/>
                <a:ea typeface="Calibri" pitchFamily="34" charset="-122"/>
                <a:cs typeface="Calibri" pitchFamily="34" charset="-120"/>
              </a:rPr>
              <a:t>MRs linked to a work item</a:t>
            </a:r>
            <a:endParaRPr lang="en-US" sz="1300" dirty="0"/>
          </a:p>
        </p:txBody>
      </p:sp>
      <p:sp>
        <p:nvSpPr>
          <p:cNvPr id="10" name="Text 8"/>
          <p:cNvSpPr txBox="1"/>
          <p:nvPr/>
        </p:nvSpPr>
        <p:spPr>
          <a:xfrm>
            <a:off x="2743200" y="2944368"/>
            <a:ext cx="1600200" cy="36576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traceability restored</a:t>
            </a:r>
            <a:endParaRPr lang="en-US" sz="1150" dirty="0"/>
          </a:p>
        </p:txBody>
      </p:sp>
      <p:sp>
        <p:nvSpPr>
          <p:cNvPr id="11" name="Shape 9"/>
          <p:cNvSpPr/>
          <p:nvPr/>
        </p:nvSpPr>
        <p:spPr>
          <a:xfrm>
            <a:off x="4663440" y="1325880"/>
            <a:ext cx="1920240" cy="2103120"/>
          </a:xfrm>
          <a:prstGeom prst="roundRect">
            <a:avLst>
              <a:gd name="adj" fmla="val 3810"/>
            </a:avLst>
          </a:prstGeom>
          <a:solidFill>
            <a:srgbClr val="14232E"/>
          </a:solidFill>
          <a:ln w="12700">
            <a:solidFill>
              <a:srgbClr val="14232E"/>
            </a:solidFill>
            <a:prstDash val="solid"/>
          </a:ln>
        </p:spPr>
      </p:sp>
      <p:sp>
        <p:nvSpPr>
          <p:cNvPr id="12" name="Text 10"/>
          <p:cNvSpPr txBox="1"/>
          <p:nvPr/>
        </p:nvSpPr>
        <p:spPr>
          <a:xfrm>
            <a:off x="4846320" y="1508760"/>
            <a:ext cx="1645920" cy="822960"/>
          </a:xfrm>
          <a:prstGeom prst="rect">
            <a:avLst/>
          </a:prstGeom>
          <a:noFill/>
          <a:ln/>
        </p:spPr>
        <p:txBody>
          <a:bodyPr wrap="square" lIns="0" tIns="0" rIns="0" bIns="0" rtlCol="0" anchor="t"/>
          <a:lstStyle/>
          <a:p>
            <a:pPr indent="0" marL="0">
              <a:buNone/>
            </a:pPr>
            <a:r>
              <a:rPr lang="en-US" sz="4000" b="1" dirty="0">
                <a:solidFill>
                  <a:srgbClr val="1FA971"/>
                </a:solidFill>
                <a:latin typeface="Cambria" pitchFamily="34" charset="0"/>
                <a:ea typeface="Cambria" pitchFamily="34" charset="-122"/>
                <a:cs typeface="Cambria" pitchFamily="34" charset="-120"/>
              </a:rPr>
              <a:t>80%</a:t>
            </a:r>
            <a:endParaRPr lang="en-US" sz="4000" dirty="0"/>
          </a:p>
        </p:txBody>
      </p:sp>
      <p:sp>
        <p:nvSpPr>
          <p:cNvPr id="13" name="Text 11"/>
          <p:cNvSpPr txBox="1"/>
          <p:nvPr/>
        </p:nvSpPr>
        <p:spPr>
          <a:xfrm>
            <a:off x="4846320" y="2377440"/>
            <a:ext cx="1600200" cy="5486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coverage on new code</a:t>
            </a:r>
            <a:endParaRPr lang="en-US" sz="1300" dirty="0"/>
          </a:p>
        </p:txBody>
      </p:sp>
      <p:sp>
        <p:nvSpPr>
          <p:cNvPr id="14" name="Text 12"/>
          <p:cNvSpPr txBox="1"/>
          <p:nvPr/>
        </p:nvSpPr>
        <p:spPr>
          <a:xfrm>
            <a:off x="4846320" y="2944368"/>
            <a:ext cx="1600200" cy="365760"/>
          </a:xfrm>
          <a:prstGeom prst="rect">
            <a:avLst/>
          </a:prstGeom>
          <a:noFill/>
          <a:ln/>
        </p:spPr>
        <p:txBody>
          <a:bodyPr wrap="square" lIns="0" tIns="0" rIns="0" bIns="0" rtlCol="0" anchor="t"/>
          <a:lstStyle/>
          <a:p>
            <a:pPr indent="0" marL="0">
              <a:buNone/>
            </a:pPr>
            <a:r>
              <a:rPr lang="en-US" sz="1150" dirty="0">
                <a:solidFill>
                  <a:srgbClr val="B8C7D0"/>
                </a:solidFill>
                <a:latin typeface="Calibri" pitchFamily="34" charset="0"/>
                <a:ea typeface="Calibri" pitchFamily="34" charset="-122"/>
                <a:cs typeface="Calibri" pitchFamily="34" charset="-120"/>
              </a:rPr>
              <a:t>enforced on every MR</a:t>
            </a:r>
            <a:endParaRPr lang="en-US" sz="1150" dirty="0"/>
          </a:p>
        </p:txBody>
      </p:sp>
      <p:sp>
        <p:nvSpPr>
          <p:cNvPr id="15" name="Shape 13"/>
          <p:cNvSpPr/>
          <p:nvPr/>
        </p:nvSpPr>
        <p:spPr>
          <a:xfrm>
            <a:off x="6766560" y="1325880"/>
            <a:ext cx="1920240" cy="2103120"/>
          </a:xfrm>
          <a:prstGeom prst="roundRect">
            <a:avLst>
              <a:gd name="adj" fmla="val 3810"/>
            </a:avLst>
          </a:prstGeom>
          <a:solidFill>
            <a:srgbClr val="EEF3F5"/>
          </a:solidFill>
          <a:ln w="12700">
            <a:solidFill>
              <a:srgbClr val="EEF3F5"/>
            </a:solidFill>
            <a:prstDash val="solid"/>
          </a:ln>
        </p:spPr>
      </p:sp>
      <p:sp>
        <p:nvSpPr>
          <p:cNvPr id="16" name="Text 14"/>
          <p:cNvSpPr txBox="1"/>
          <p:nvPr/>
        </p:nvSpPr>
        <p:spPr>
          <a:xfrm>
            <a:off x="6949440" y="1508760"/>
            <a:ext cx="1645920" cy="822960"/>
          </a:xfrm>
          <a:prstGeom prst="rect">
            <a:avLst/>
          </a:prstGeom>
          <a:noFill/>
          <a:ln/>
        </p:spPr>
        <p:txBody>
          <a:bodyPr wrap="square" lIns="0" tIns="0" rIns="0" bIns="0" rtlCol="0" anchor="t"/>
          <a:lstStyle/>
          <a:p>
            <a:pPr indent="0" marL="0">
              <a:buNone/>
            </a:pPr>
            <a:r>
              <a:rPr lang="en-US" sz="4000" b="1" dirty="0">
                <a:solidFill>
                  <a:srgbClr val="14232E"/>
                </a:solidFill>
                <a:latin typeface="Cambria" pitchFamily="34" charset="0"/>
                <a:ea typeface="Cambria" pitchFamily="34" charset="-122"/>
                <a:cs typeface="Cambria" pitchFamily="34" charset="-120"/>
              </a:rPr>
              <a:t>0</a:t>
            </a:r>
            <a:endParaRPr lang="en-US" sz="4000" dirty="0"/>
          </a:p>
        </p:txBody>
      </p:sp>
      <p:sp>
        <p:nvSpPr>
          <p:cNvPr id="17" name="Text 15"/>
          <p:cNvSpPr txBox="1"/>
          <p:nvPr/>
        </p:nvSpPr>
        <p:spPr>
          <a:xfrm>
            <a:off x="6949440" y="2377440"/>
            <a:ext cx="1600200" cy="548640"/>
          </a:xfrm>
          <a:prstGeom prst="rect">
            <a:avLst/>
          </a:prstGeom>
          <a:noFill/>
          <a:ln/>
        </p:spPr>
        <p:txBody>
          <a:bodyPr wrap="square" lIns="0" tIns="0" rIns="0" bIns="0" rtlCol="0" anchor="t"/>
          <a:lstStyle/>
          <a:p>
            <a:pPr indent="0" marL="0">
              <a:buNone/>
            </a:pPr>
            <a:r>
              <a:rPr lang="en-US" sz="1300" b="1" dirty="0">
                <a:solidFill>
                  <a:srgbClr val="1F2D38"/>
                </a:solidFill>
                <a:latin typeface="Calibri" pitchFamily="34" charset="0"/>
                <a:ea typeface="Calibri" pitchFamily="34" charset="-122"/>
                <a:cs typeface="Calibri" pitchFamily="34" charset="-120"/>
              </a:rPr>
              <a:t>secrets merged to main</a:t>
            </a:r>
            <a:endParaRPr lang="en-US" sz="1300" dirty="0"/>
          </a:p>
        </p:txBody>
      </p:sp>
      <p:sp>
        <p:nvSpPr>
          <p:cNvPr id="18" name="Text 16"/>
          <p:cNvSpPr txBox="1"/>
          <p:nvPr/>
        </p:nvSpPr>
        <p:spPr>
          <a:xfrm>
            <a:off x="6949440" y="2944368"/>
            <a:ext cx="1600200" cy="36576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caught before merge</a:t>
            </a:r>
            <a:endParaRPr lang="en-US" sz="1150" dirty="0"/>
          </a:p>
        </p:txBody>
      </p:sp>
      <p:sp>
        <p:nvSpPr>
          <p:cNvPr id="19" name="Text 17"/>
          <p:cNvSpPr txBox="1"/>
          <p:nvPr/>
        </p:nvSpPr>
        <p:spPr>
          <a:xfrm>
            <a:off x="457200" y="3840480"/>
            <a:ext cx="8229600" cy="457200"/>
          </a:xfrm>
          <a:prstGeom prst="rect">
            <a:avLst/>
          </a:prstGeom>
          <a:noFill/>
          <a:ln/>
        </p:spPr>
        <p:txBody>
          <a:bodyPr wrap="square" lIns="0" tIns="0" rIns="0" bIns="0" rtlCol="0" anchor="t"/>
          <a:lstStyle/>
          <a:p>
            <a:pPr indent="0" marL="0">
              <a:buNone/>
            </a:pPr>
            <a:r>
              <a:rPr lang="en-US" sz="1300" b="1" dirty="0">
                <a:solidFill>
                  <a:srgbClr val="5B6B77"/>
                </a:solidFill>
                <a:latin typeface="Calibri" pitchFamily="34" charset="0"/>
                <a:ea typeface="Calibri" pitchFamily="34" charset="-122"/>
                <a:cs typeface="Calibri" pitchFamily="34" charset="-120"/>
              </a:rPr>
              <a:t>Also tracked: </a:t>
            </a:r>
            <a:pPr indent="0" marL="0">
              <a:buNone/>
            </a:pPr>
            <a:r>
              <a:rPr lang="en-US" sz="1300" dirty="0">
                <a:solidFill>
                  <a:srgbClr val="5B6B77"/>
                </a:solidFill>
                <a:latin typeface="Calibri" pitchFamily="34" charset="0"/>
                <a:ea typeface="Calibri" pitchFamily="34" charset="-122"/>
                <a:cs typeface="Calibri" pitchFamily="34" charset="-120"/>
              </a:rPr>
              <a:t>first-time pass rate per team, and DORA metrics (change failure rate, lead time for changes).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2E"/>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Decisions needed today</a:t>
            </a:r>
            <a:endParaRPr lang="en-US" sz="2800" dirty="0"/>
          </a:p>
        </p:txBody>
      </p:sp>
      <p:sp>
        <p:nvSpPr>
          <p:cNvPr id="3" name="Shape 1"/>
          <p:cNvSpPr/>
          <p:nvPr/>
        </p:nvSpPr>
        <p:spPr>
          <a:xfrm>
            <a:off x="457200" y="1234440"/>
            <a:ext cx="457200" cy="457200"/>
          </a:xfrm>
          <a:prstGeom prst="ellipse">
            <a:avLst/>
          </a:prstGeom>
          <a:solidFill>
            <a:srgbClr val="1FA971"/>
          </a:solidFill>
          <a:ln w="12700">
            <a:solidFill>
              <a:srgbClr val="1FA971"/>
            </a:solidFill>
            <a:prstDash val="solid"/>
          </a:ln>
        </p:spPr>
      </p:sp>
      <p:sp>
        <p:nvSpPr>
          <p:cNvPr id="4" name="Text 2"/>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097280" y="1188720"/>
            <a:ext cx="749808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Approve the standard</a:t>
            </a:r>
            <a:endParaRPr lang="en-US" sz="1600" dirty="0"/>
          </a:p>
        </p:txBody>
      </p:sp>
      <p:sp>
        <p:nvSpPr>
          <p:cNvPr id="6" name="Text 4"/>
          <p:cNvSpPr txBox="1"/>
          <p:nvPr/>
        </p:nvSpPr>
        <p:spPr>
          <a:xfrm>
            <a:off x="1097280" y="1490472"/>
            <a:ext cx="7498080" cy="274320"/>
          </a:xfrm>
          <a:prstGeom prst="rect">
            <a:avLst/>
          </a:prstGeom>
          <a:noFill/>
          <a:ln/>
        </p:spPr>
        <p:txBody>
          <a:bodyPr wrap="square" lIns="0" tIns="0" rIns="0" bIns="0" rtlCol="0" anchor="t"/>
          <a:lstStyle/>
          <a:p>
            <a:pPr indent="0" marL="0">
              <a:buNone/>
            </a:pPr>
            <a:r>
              <a:rPr lang="en-US" sz="1250" dirty="0">
                <a:solidFill>
                  <a:srgbClr val="B8C7D0"/>
                </a:solidFill>
                <a:latin typeface="Calibri" pitchFamily="34" charset="0"/>
                <a:ea typeface="Calibri" pitchFamily="34" charset="-122"/>
                <a:cs typeface="Calibri" pitchFamily="34" charset="-120"/>
              </a:rPr>
              <a:t>80% coverage on new code, MR titles with a work item, squash merges</a:t>
            </a:r>
            <a:endParaRPr lang="en-US" sz="1250" dirty="0"/>
          </a:p>
        </p:txBody>
      </p:sp>
      <p:sp>
        <p:nvSpPr>
          <p:cNvPr id="7" name="Shape 5"/>
          <p:cNvSpPr/>
          <p:nvPr/>
        </p:nvSpPr>
        <p:spPr>
          <a:xfrm>
            <a:off x="457200" y="1920240"/>
            <a:ext cx="457200" cy="457200"/>
          </a:xfrm>
          <a:prstGeom prst="ellipse">
            <a:avLst/>
          </a:prstGeom>
          <a:solidFill>
            <a:srgbClr val="1FA971"/>
          </a:solidFill>
          <a:ln w="12700">
            <a:solidFill>
              <a:srgbClr val="1FA971"/>
            </a:solidFill>
            <a:prstDash val="solid"/>
          </a:ln>
        </p:spPr>
      </p:sp>
      <p:sp>
        <p:nvSpPr>
          <p:cNvPr id="8" name="Text 6"/>
          <p:cNvSpPr txBox="1"/>
          <p:nvPr/>
        </p:nvSpPr>
        <p:spPr>
          <a:xfrm>
            <a:off x="45720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097280" y="1874520"/>
            <a:ext cx="749808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Staff the platform team</a:t>
            </a:r>
            <a:endParaRPr lang="en-US" sz="1600" dirty="0"/>
          </a:p>
        </p:txBody>
      </p:sp>
      <p:sp>
        <p:nvSpPr>
          <p:cNvPr id="10" name="Text 8"/>
          <p:cNvSpPr txBox="1"/>
          <p:nvPr/>
        </p:nvSpPr>
        <p:spPr>
          <a:xfrm>
            <a:off x="1097280" y="2176272"/>
            <a:ext cx="7498080" cy="274320"/>
          </a:xfrm>
          <a:prstGeom prst="rect">
            <a:avLst/>
          </a:prstGeom>
          <a:noFill/>
          <a:ln/>
        </p:spPr>
        <p:txBody>
          <a:bodyPr wrap="square" lIns="0" tIns="0" rIns="0" bIns="0" rtlCol="0" anchor="t"/>
          <a:lstStyle/>
          <a:p>
            <a:pPr indent="0" marL="0">
              <a:buNone/>
            </a:pPr>
            <a:r>
              <a:rPr lang="en-US" sz="1250" dirty="0">
                <a:solidFill>
                  <a:srgbClr val="B8C7D0"/>
                </a:solidFill>
                <a:latin typeface="Calibri" pitchFamily="34" charset="0"/>
                <a:ea typeface="Calibri" pitchFamily="34" charset="-122"/>
                <a:cs typeface="Calibri" pitchFamily="34" charset="-120"/>
              </a:rPr>
              <a:t>Estimated 3–4 engineers to own templates, image and onboarding</a:t>
            </a:r>
            <a:endParaRPr lang="en-US" sz="1250" dirty="0"/>
          </a:p>
        </p:txBody>
      </p:sp>
      <p:sp>
        <p:nvSpPr>
          <p:cNvPr id="11" name="Shape 9"/>
          <p:cNvSpPr/>
          <p:nvPr/>
        </p:nvSpPr>
        <p:spPr>
          <a:xfrm>
            <a:off x="457200" y="2606040"/>
            <a:ext cx="457200" cy="457200"/>
          </a:xfrm>
          <a:prstGeom prst="ellipse">
            <a:avLst/>
          </a:prstGeom>
          <a:solidFill>
            <a:srgbClr val="1FA971"/>
          </a:solidFill>
          <a:ln w="12700">
            <a:solidFill>
              <a:srgbClr val="1FA971"/>
            </a:solidFill>
            <a:prstDash val="solid"/>
          </a:ln>
        </p:spPr>
      </p:sp>
      <p:sp>
        <p:nvSpPr>
          <p:cNvPr id="12" name="Text 10"/>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097280" y="2560320"/>
            <a:ext cx="749808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Licensing</a:t>
            </a:r>
            <a:endParaRPr lang="en-US" sz="1600" dirty="0"/>
          </a:p>
        </p:txBody>
      </p:sp>
      <p:sp>
        <p:nvSpPr>
          <p:cNvPr id="14" name="Text 12"/>
          <p:cNvSpPr txBox="1"/>
          <p:nvPr/>
        </p:nvSpPr>
        <p:spPr>
          <a:xfrm>
            <a:off x="1097280" y="2862072"/>
            <a:ext cx="7498080" cy="274320"/>
          </a:xfrm>
          <a:prstGeom prst="rect">
            <a:avLst/>
          </a:prstGeom>
          <a:noFill/>
          <a:ln/>
        </p:spPr>
        <p:txBody>
          <a:bodyPr wrap="square" lIns="0" tIns="0" rIns="0" bIns="0" rtlCol="0" anchor="t"/>
          <a:lstStyle/>
          <a:p>
            <a:pPr indent="0" marL="0">
              <a:buNone/>
            </a:pPr>
            <a:r>
              <a:rPr lang="en-US" sz="1250" dirty="0">
                <a:solidFill>
                  <a:srgbClr val="B8C7D0"/>
                </a:solidFill>
                <a:latin typeface="Calibri" pitchFamily="34" charset="0"/>
                <a:ea typeface="Calibri" pitchFamily="34" charset="-122"/>
                <a:cs typeface="Calibri" pitchFamily="34" charset="-120"/>
              </a:rPr>
              <a:t>GitLab Ultimate for policy enforcement; SonarQube optional</a:t>
            </a:r>
            <a:endParaRPr lang="en-US" sz="1250" dirty="0"/>
          </a:p>
        </p:txBody>
      </p:sp>
      <p:sp>
        <p:nvSpPr>
          <p:cNvPr id="15" name="Shape 13"/>
          <p:cNvSpPr/>
          <p:nvPr/>
        </p:nvSpPr>
        <p:spPr>
          <a:xfrm>
            <a:off x="457200" y="3291840"/>
            <a:ext cx="457200" cy="457200"/>
          </a:xfrm>
          <a:prstGeom prst="ellipse">
            <a:avLst/>
          </a:prstGeom>
          <a:solidFill>
            <a:srgbClr val="1FA971"/>
          </a:solidFill>
          <a:ln w="12700">
            <a:solidFill>
              <a:srgbClr val="1FA971"/>
            </a:solidFill>
            <a:prstDash val="solid"/>
          </a:ln>
        </p:spPr>
      </p:sp>
      <p:sp>
        <p:nvSpPr>
          <p:cNvPr id="16" name="Text 14"/>
          <p:cNvSpPr txBox="1"/>
          <p:nvPr/>
        </p:nvSpPr>
        <p:spPr>
          <a:xfrm>
            <a:off x="45720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097280" y="3246120"/>
            <a:ext cx="749808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Exception process</a:t>
            </a:r>
            <a:endParaRPr lang="en-US" sz="1600" dirty="0"/>
          </a:p>
        </p:txBody>
      </p:sp>
      <p:sp>
        <p:nvSpPr>
          <p:cNvPr id="18" name="Text 16"/>
          <p:cNvSpPr txBox="1"/>
          <p:nvPr/>
        </p:nvSpPr>
        <p:spPr>
          <a:xfrm>
            <a:off x="1097280" y="3547872"/>
            <a:ext cx="7498080" cy="274320"/>
          </a:xfrm>
          <a:prstGeom prst="rect">
            <a:avLst/>
          </a:prstGeom>
          <a:noFill/>
          <a:ln/>
        </p:spPr>
        <p:txBody>
          <a:bodyPr wrap="square" lIns="0" tIns="0" rIns="0" bIns="0" rtlCol="0" anchor="t"/>
          <a:lstStyle/>
          <a:p>
            <a:pPr indent="0" marL="0">
              <a:buNone/>
            </a:pPr>
            <a:r>
              <a:rPr lang="en-US" sz="1250" dirty="0">
                <a:solidFill>
                  <a:srgbClr val="B8C7D0"/>
                </a:solidFill>
                <a:latin typeface="Calibri" pitchFamily="34" charset="0"/>
                <a:ea typeface="Calibri" pitchFamily="34" charset="-122"/>
                <a:cs typeface="Calibri" pitchFamily="34" charset="-120"/>
              </a:rPr>
              <a:t>Suggested: architect sign-off, 90-day expiry</a:t>
            </a:r>
            <a:endParaRPr lang="en-US" sz="1250" dirty="0"/>
          </a:p>
        </p:txBody>
      </p:sp>
      <p:sp>
        <p:nvSpPr>
          <p:cNvPr id="19" name="Shape 17"/>
          <p:cNvSpPr/>
          <p:nvPr/>
        </p:nvSpPr>
        <p:spPr>
          <a:xfrm>
            <a:off x="457200" y="3977640"/>
            <a:ext cx="457200" cy="457200"/>
          </a:xfrm>
          <a:prstGeom prst="ellipse">
            <a:avLst/>
          </a:prstGeom>
          <a:solidFill>
            <a:srgbClr val="1FA971"/>
          </a:solidFill>
          <a:ln w="12700">
            <a:solidFill>
              <a:srgbClr val="1FA971"/>
            </a:solidFill>
            <a:prstDash val="solid"/>
          </a:ln>
        </p:spPr>
      </p:sp>
      <p:sp>
        <p:nvSpPr>
          <p:cNvPr id="20" name="Text 18"/>
          <p:cNvSpPr txBox="1"/>
          <p:nvPr/>
        </p:nvSpPr>
        <p:spPr>
          <a:xfrm>
            <a:off x="457200" y="3977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097280" y="3931920"/>
            <a:ext cx="749808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Cut-over dates</a:t>
            </a:r>
            <a:endParaRPr lang="en-US" sz="1600" dirty="0"/>
          </a:p>
        </p:txBody>
      </p:sp>
      <p:sp>
        <p:nvSpPr>
          <p:cNvPr id="22" name="Text 20"/>
          <p:cNvSpPr txBox="1"/>
          <p:nvPr/>
        </p:nvSpPr>
        <p:spPr>
          <a:xfrm>
            <a:off x="1097280" y="4233672"/>
            <a:ext cx="7498080" cy="274320"/>
          </a:xfrm>
          <a:prstGeom prst="rect">
            <a:avLst/>
          </a:prstGeom>
          <a:noFill/>
          <a:ln/>
        </p:spPr>
        <p:txBody>
          <a:bodyPr wrap="square" lIns="0" tIns="0" rIns="0" bIns="0" rtlCol="0" anchor="t"/>
          <a:lstStyle/>
          <a:p>
            <a:pPr indent="0" marL="0">
              <a:buNone/>
            </a:pPr>
            <a:r>
              <a:rPr lang="en-US" sz="1250" dirty="0">
                <a:solidFill>
                  <a:srgbClr val="B8C7D0"/>
                </a:solidFill>
                <a:latin typeface="Calibri" pitchFamily="34" charset="0"/>
                <a:ea typeface="Calibri" pitchFamily="34" charset="-122"/>
                <a:cs typeface="Calibri" pitchFamily="34" charset="-120"/>
              </a:rPr>
              <a:t>When phase 2 (tier 1) and phase 3 (all repos) start blocking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Pipeline - One Quality Standard</dc:title>
  <dc:subject>PptxGenJS Presentation</dc:subject>
  <dc:creator>PptxGenJS</dc:creator>
  <cp:lastModifiedBy>PptxGenJS</cp:lastModifiedBy>
  <cp:revision>1</cp:revision>
  <dcterms:created xsi:type="dcterms:W3CDTF">2026-09-23T13:54:57Z</dcterms:created>
  <dcterms:modified xsi:type="dcterms:W3CDTF">2026-09-23T13:54:57Z</dcterms:modified>
</cp:coreProperties>
</file>